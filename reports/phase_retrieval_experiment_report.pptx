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f74e183d184dba" /><Relationship Type="http://schemas.openxmlformats.org/officeDocument/2006/relationships/extended-properties" Target="/docProps/app.xml" Id="R3abc37039ba94c19" /><Relationship Type="http://schemas.openxmlformats.org/officeDocument/2006/relationships/officeDocument" Target="/ppt/presentation.xml" Id="R4e36870cff3e4d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cda8faefa54c9a"/>
  </p:sldMasterIdLst>
  <p:notesMasterIdLst>
    <p:notesMasterId xmlns:r="http://schemas.openxmlformats.org/officeDocument/2006/relationships" r:id="Ra11b114ef93f4e9c"/>
  </p:notesMasterIdLst>
  <p:sldIdLst>
    <p:sldId xmlns:r="http://schemas.openxmlformats.org/officeDocument/2006/relationships" id="256" r:id="R7bb09fd4516a49c3"/>
    <p:sldId xmlns:r="http://schemas.openxmlformats.org/officeDocument/2006/relationships" id="257" r:id="Ra398ae26b191476d"/>
    <p:sldId xmlns:r="http://schemas.openxmlformats.org/officeDocument/2006/relationships" id="258" r:id="R1883eb1c840943be"/>
    <p:sldId xmlns:r="http://schemas.openxmlformats.org/officeDocument/2006/relationships" id="259" r:id="R2c27c83325144073"/>
    <p:sldId xmlns:r="http://schemas.openxmlformats.org/officeDocument/2006/relationships" id="260" r:id="R935143e8e0de4d08"/>
    <p:sldId xmlns:r="http://schemas.openxmlformats.org/officeDocument/2006/relationships" id="261" r:id="R7a163e84d6d94c52"/>
    <p:sldId xmlns:r="http://schemas.openxmlformats.org/officeDocument/2006/relationships" id="262" r:id="Rb7660d7c785548bb"/>
    <p:sldId xmlns:r="http://schemas.openxmlformats.org/officeDocument/2006/relationships" id="263" r:id="R2176a6f900f049cc"/>
    <p:sldId xmlns:r="http://schemas.openxmlformats.org/officeDocument/2006/relationships" id="264" r:id="Rd54340b4ae0e418f"/>
    <p:sldId xmlns:r="http://schemas.openxmlformats.org/officeDocument/2006/relationships" id="265" r:id="R9a98962777d942dd"/>
    <p:sldId xmlns:r="http://schemas.openxmlformats.org/officeDocument/2006/relationships" id="266" r:id="Ra2dc17453116482a"/>
    <p:sldId xmlns:r="http://schemas.openxmlformats.org/officeDocument/2006/relationships" id="267" r:id="Rc6769906503f48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178bc4e7694d99" /><Relationship Type="http://schemas.openxmlformats.org/officeDocument/2006/relationships/slideMaster" Target="/ppt/slideMasters/slideMaster1.xml" Id="R3fcda8faefa54c9a" /><Relationship Type="http://schemas.openxmlformats.org/officeDocument/2006/relationships/notesMaster" Target="/ppt/notesMasters/notesMaster1.xml" Id="Ra11b114ef93f4e9c" /><Relationship Type="http://schemas.openxmlformats.org/officeDocument/2006/relationships/presProps" Target="/ppt/presProps.xml" Id="R53ae561e275d434f" /><Relationship Type="http://schemas.openxmlformats.org/officeDocument/2006/relationships/tableStyles" Target="/ppt/tableStyles.xml" Id="R61e119935c294939" /><Relationship Type="http://schemas.openxmlformats.org/officeDocument/2006/relationships/slide" Target="/ppt/slides/slide1.xml" Id="R7bb09fd4516a49c3" /><Relationship Type="http://schemas.openxmlformats.org/officeDocument/2006/relationships/slide" Target="/ppt/slides/slide2.xml" Id="Ra398ae26b191476d" /><Relationship Type="http://schemas.openxmlformats.org/officeDocument/2006/relationships/slide" Target="/ppt/slides/slide3.xml" Id="R1883eb1c840943be" /><Relationship Type="http://schemas.openxmlformats.org/officeDocument/2006/relationships/slide" Target="/ppt/slides/slide4.xml" Id="R2c27c83325144073" /><Relationship Type="http://schemas.openxmlformats.org/officeDocument/2006/relationships/slide" Target="/ppt/slides/slide5.xml" Id="R935143e8e0de4d08" /><Relationship Type="http://schemas.openxmlformats.org/officeDocument/2006/relationships/slide" Target="/ppt/slides/slide6.xml" Id="R7a163e84d6d94c52" /><Relationship Type="http://schemas.openxmlformats.org/officeDocument/2006/relationships/slide" Target="/ppt/slides/slide7.xml" Id="Rb7660d7c785548bb" /><Relationship Type="http://schemas.openxmlformats.org/officeDocument/2006/relationships/slide" Target="/ppt/slides/slide8.xml" Id="R2176a6f900f049cc" /><Relationship Type="http://schemas.openxmlformats.org/officeDocument/2006/relationships/slide" Target="/ppt/slides/slide9.xml" Id="Rd54340b4ae0e418f" /><Relationship Type="http://schemas.openxmlformats.org/officeDocument/2006/relationships/slide" Target="/ppt/slides/slide10.xml" Id="R9a98962777d942dd" /><Relationship Type="http://schemas.openxmlformats.org/officeDocument/2006/relationships/slide" Target="/ppt/slides/slide11.xml" Id="Ra2dc17453116482a" /><Relationship Type="http://schemas.openxmlformats.org/officeDocument/2006/relationships/slide" Target="/ppt/slides/slide12.xml" Id="Rc6769906503f48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ef598372049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cc995a9a854214" /><Relationship Type="http://schemas.openxmlformats.org/officeDocument/2006/relationships/notesMaster" Target="/ppt/notesMasters/notesMaster1.xml" Id="Rfb2cd44c75f5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3a77bebffb4f5a" /><Relationship Type="http://schemas.openxmlformats.org/officeDocument/2006/relationships/notesMaster" Target="/ppt/notesMasters/notesMaster1.xml" Id="Rca96f072ceca42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67f8aa6ee448da" /><Relationship Type="http://schemas.openxmlformats.org/officeDocument/2006/relationships/notesMaster" Target="/ppt/notesMasters/notesMaster1.xml" Id="Rb6efa798054f49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505bf41a1f46c6" /><Relationship Type="http://schemas.openxmlformats.org/officeDocument/2006/relationships/notesMaster" Target="/ppt/notesMasters/notesMaster1.xml" Id="R41ed601bc0054b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f643f5896f409d" /><Relationship Type="http://schemas.openxmlformats.org/officeDocument/2006/relationships/notesMaster" Target="/ppt/notesMasters/notesMaster1.xml" Id="R59474c450f5a4a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b490b4d4e4ef3" /><Relationship Type="http://schemas.openxmlformats.org/officeDocument/2006/relationships/notesMaster" Target="/ppt/notesMasters/notesMaster1.xml" Id="Rb488cd10fc0446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37dccbc1d54c62" /><Relationship Type="http://schemas.openxmlformats.org/officeDocument/2006/relationships/notesMaster" Target="/ppt/notesMasters/notesMaster1.xml" Id="R455c7868e5c746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ce85bf57b14d60" /><Relationship Type="http://schemas.openxmlformats.org/officeDocument/2006/relationships/notesMaster" Target="/ppt/notesMasters/notesMaster1.xml" Id="Raf84f6a0017445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14a3a16e2a40de" /><Relationship Type="http://schemas.openxmlformats.org/officeDocument/2006/relationships/notesMaster" Target="/ppt/notesMasters/notesMaster1.xml" Id="R7045c554050a4a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b3c6d449984fb4" /><Relationship Type="http://schemas.openxmlformats.org/officeDocument/2006/relationships/notesMaster" Target="/ppt/notesMasters/notesMaster1.xml" Id="R10f5f4a0f15f48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298bbcbedb4789" /><Relationship Type="http://schemas.openxmlformats.org/officeDocument/2006/relationships/notesMaster" Target="/ppt/notesMasters/notesMaster1.xml" Id="R6c58ef9fdf6445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fd9af2510240d0" /><Relationship Type="http://schemas.openxmlformats.org/officeDocument/2006/relationships/notesMaster" Target="/ppt/notesMasters/notesMaster1.xml" Id="Rb1529866176b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89901493745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759b87aac542bc" /><Relationship Type="http://schemas.openxmlformats.org/officeDocument/2006/relationships/slideLayout" Target="/ppt/slideLayouts/slideLayout1.xml" Id="Rba607d61cb7343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607d61cb7343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9d098bb7048c0" /><Relationship Type="http://schemas.openxmlformats.org/officeDocument/2006/relationships/notesSlide" Target="/ppt/notesSlides/notesSlide1.xml" Id="Ra96505d9c9624e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ba272d70041e1" /><Relationship Type="http://schemas.openxmlformats.org/officeDocument/2006/relationships/notesSlide" Target="/ppt/notesSlides/notesSlide2.xml" Id="R1ad161e6a5cf48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711db8fc1436c" /><Relationship Type="http://schemas.openxmlformats.org/officeDocument/2006/relationships/notesSlide" Target="/ppt/notesSlides/notesSlide3.xml" Id="R92267fb6283e48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c5ddff5a74a04" /><Relationship Type="http://schemas.openxmlformats.org/officeDocument/2006/relationships/chart" Target="/ppt/slides/charts/chart1.xml" Id="R1d2eb7ea5d7e4c85" /><Relationship Type="http://schemas.openxmlformats.org/officeDocument/2006/relationships/notesSlide" Target="/ppt/notesSlides/notesSlide4.xml" Id="R076f924cb4bd4c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6c92bb64047ab" /><Relationship Type="http://schemas.openxmlformats.org/officeDocument/2006/relationships/image" Target="/ppt/media/image.png" Id="Rd6987fee04f6477a" /><Relationship Type="http://schemas.openxmlformats.org/officeDocument/2006/relationships/notesSlide" Target="/ppt/notesSlides/notesSlide5.xml" Id="Rb1bc290c5aaa40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0eb533b164e23" /><Relationship Type="http://schemas.openxmlformats.org/officeDocument/2006/relationships/chart" Target="/ppt/slides/charts/chart2.xml" Id="Rad52733b55a24c2d" /><Relationship Type="http://schemas.openxmlformats.org/officeDocument/2006/relationships/notesSlide" Target="/ppt/notesSlides/notesSlide6.xml" Id="R3e3b0d31075343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8ea62b01f494d" /><Relationship Type="http://schemas.openxmlformats.org/officeDocument/2006/relationships/image" Target="/ppt/media/image2.png" Id="R4ac671060cf04a59" /><Relationship Type="http://schemas.openxmlformats.org/officeDocument/2006/relationships/notesSlide" Target="/ppt/notesSlides/notesSlide7.xml" Id="R3785eb4fa69c4e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a975238fe4d33" /><Relationship Type="http://schemas.openxmlformats.org/officeDocument/2006/relationships/notesSlide" Target="/ppt/notesSlides/notesSlide8.xml" Id="Rf0f9c2203d1045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0844f94364227" /><Relationship Type="http://schemas.openxmlformats.org/officeDocument/2006/relationships/notesSlide" Target="/ppt/notesSlides/notesSlide9.xml" Id="R9b890a2528cd44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544b992e1420e" /><Relationship Type="http://schemas.openxmlformats.org/officeDocument/2006/relationships/notesSlide" Target="/ppt/notesSlides/notesSlide10.xml" Id="R0985f39b693943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5f6edb4224e43" /><Relationship Type="http://schemas.openxmlformats.org/officeDocument/2006/relationships/notesSlide" Target="/ppt/notesSlides/notesSlide11.xml" Id="Rbd20da127a844d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aeb0ad26f40af" /><Relationship Type="http://schemas.openxmlformats.org/officeDocument/2006/relationships/notesSlide" Target="/ppt/notesSlides/notesSlide12.xml" Id="Re0a54eaaf1fa4d6e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Train L1</c:v>
          </c:tx>
          <c:spPr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0"/>
              <c:pt idx="0">
                <c:v>1</c:v>
              </c:pt>
              <c:pt idx="1">
                <c:v>12</c:v>
              </c:pt>
              <c:pt idx="2">
                <c:v>23</c:v>
              </c:pt>
              <c:pt idx="3">
                <c:v>34</c:v>
              </c:pt>
              <c:pt idx="4">
                <c:v>45</c:v>
              </c:pt>
              <c:pt idx="5">
                <c:v>56</c:v>
              </c:pt>
              <c:pt idx="6">
                <c:v>67</c:v>
              </c:pt>
              <c:pt idx="7">
                <c:v>78</c:v>
              </c:pt>
              <c:pt idx="8">
                <c:v>89</c:v>
              </c:pt>
              <c:pt idx="9">
                <c:v>100</c:v>
              </c:pt>
            </c:numLit>
          </c:cat>
          <c:val>
            <c:numLit>
              <c:formatCode>General</c:formatCode>
              <c:ptCount val="10"/>
              <c:pt idx="0">
                <c:v>6.967</c:v>
              </c:pt>
              <c:pt idx="1">
                <c:v>4.4928</c:v>
              </c:pt>
              <c:pt idx="2">
                <c:v>3.8783</c:v>
              </c:pt>
              <c:pt idx="3">
                <c:v>3.574</c:v>
              </c:pt>
              <c:pt idx="4">
                <c:v>3.4046</c:v>
              </c:pt>
              <c:pt idx="5">
                <c:v>3.1663</c:v>
              </c:pt>
              <c:pt idx="6">
                <c:v>3.0405</c:v>
              </c:pt>
              <c:pt idx="7">
                <c:v>2.9791</c:v>
              </c:pt>
              <c:pt idx="8">
                <c:v>2.947</c:v>
              </c:pt>
              <c:pt idx="9">
                <c:v>2.9312</c:v>
              </c:pt>
            </c:numLit>
          </c:val>
          <c:smooth val="0"/>
        </c:ser>
        <c:ser>
          <c:idx val="1"/>
          <c:order val="1"/>
          <c:tx>
            <c:v>Val L1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0"/>
              <c:pt idx="0">
                <c:v>1</c:v>
              </c:pt>
              <c:pt idx="1">
                <c:v>12</c:v>
              </c:pt>
              <c:pt idx="2">
                <c:v>23</c:v>
              </c:pt>
              <c:pt idx="3">
                <c:v>34</c:v>
              </c:pt>
              <c:pt idx="4">
                <c:v>45</c:v>
              </c:pt>
              <c:pt idx="5">
                <c:v>56</c:v>
              </c:pt>
              <c:pt idx="6">
                <c:v>67</c:v>
              </c:pt>
              <c:pt idx="7">
                <c:v>78</c:v>
              </c:pt>
              <c:pt idx="8">
                <c:v>89</c:v>
              </c:pt>
              <c:pt idx="9">
                <c:v>100</c:v>
              </c:pt>
            </c:numLit>
          </c:cat>
          <c:val>
            <c:numLit>
              <c:formatCode>General</c:formatCode>
              <c:ptCount val="10"/>
              <c:pt idx="0">
                <c:v>6.5244</c:v>
              </c:pt>
              <c:pt idx="1">
                <c:v>4.557</c:v>
              </c:pt>
              <c:pt idx="2">
                <c:v>4.1821</c:v>
              </c:pt>
              <c:pt idx="3">
                <c:v>3.9556</c:v>
              </c:pt>
              <c:pt idx="4">
                <c:v>3.9018</c:v>
              </c:pt>
              <c:pt idx="5">
                <c:v>3.7571</c:v>
              </c:pt>
              <c:pt idx="6">
                <c:v>3.7112</c:v>
              </c:pt>
              <c:pt idx="7">
                <c:v>3.7003</c:v>
              </c:pt>
              <c:pt idx="8">
                <c:v>3.7005</c:v>
              </c:pt>
              <c:pt idx="9">
                <c:v>3.7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475569"/>
                    </a:solidFill>
                  </a:rPr>
                  <a:t>epoch samples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47556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Train L1</c:v>
          </c:tx>
          <c:spPr>
            <a:ln xmlns:a="http://schemas.openxmlformats.org/drawingml/2006/main" w="28575">
              <a:solidFill>
                <a:srgbClr val="D97706"/>
              </a:solidFill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0"/>
              <c:pt idx="0">
                <c:v>1</c:v>
              </c:pt>
              <c:pt idx="1">
                <c:v>45</c:v>
              </c:pt>
              <c:pt idx="2">
                <c:v>90</c:v>
              </c:pt>
              <c:pt idx="3">
                <c:v>134</c:v>
              </c:pt>
              <c:pt idx="4">
                <c:v>178</c:v>
              </c:pt>
              <c:pt idx="5">
                <c:v>223</c:v>
              </c:pt>
              <c:pt idx="6">
                <c:v>267</c:v>
              </c:pt>
              <c:pt idx="7">
                <c:v>311</c:v>
              </c:pt>
              <c:pt idx="8">
                <c:v>356</c:v>
              </c:pt>
              <c:pt idx="9">
                <c:v>400</c:v>
              </c:pt>
            </c:numLit>
          </c:cat>
          <c:val>
            <c:numLit>
              <c:formatCode>General</c:formatCode>
              <c:ptCount val="10"/>
              <c:pt idx="0">
                <c:v>22.4774</c:v>
              </c:pt>
              <c:pt idx="1">
                <c:v>8.115</c:v>
              </c:pt>
              <c:pt idx="2">
                <c:v>7.3343</c:v>
              </c:pt>
              <c:pt idx="3">
                <c:v>6.7659</c:v>
              </c:pt>
              <c:pt idx="4">
                <c:v>6.5369</c:v>
              </c:pt>
              <c:pt idx="5">
                <c:v>6.2942</c:v>
              </c:pt>
              <c:pt idx="6">
                <c:v>6.1714</c:v>
              </c:pt>
              <c:pt idx="7">
                <c:v>6.0998</c:v>
              </c:pt>
              <c:pt idx="8">
                <c:v>6.0677</c:v>
              </c:pt>
              <c:pt idx="9">
                <c:v>6.1114</c:v>
              </c:pt>
            </c:numLit>
          </c:val>
          <c:smooth val="0"/>
        </c:ser>
        <c:ser>
          <c:idx val="1"/>
          <c:order val="1"/>
          <c:tx>
            <c:v>Val L1</c:v>
          </c:tx>
          <c:spPr>
            <a:ln xmlns:a="http://schemas.openxmlformats.org/drawingml/2006/main" w="28575">
              <a:solidFill>
                <a:srgbClr val="B91C1C"/>
              </a:solidFill>
              <a:prstDash val="solid"/>
            </a:ln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0"/>
              <c:pt idx="0">
                <c:v>1</c:v>
              </c:pt>
              <c:pt idx="1">
                <c:v>45</c:v>
              </c:pt>
              <c:pt idx="2">
                <c:v>90</c:v>
              </c:pt>
              <c:pt idx="3">
                <c:v>134</c:v>
              </c:pt>
              <c:pt idx="4">
                <c:v>178</c:v>
              </c:pt>
              <c:pt idx="5">
                <c:v>223</c:v>
              </c:pt>
              <c:pt idx="6">
                <c:v>267</c:v>
              </c:pt>
              <c:pt idx="7">
                <c:v>311</c:v>
              </c:pt>
              <c:pt idx="8">
                <c:v>356</c:v>
              </c:pt>
              <c:pt idx="9">
                <c:v>400</c:v>
              </c:pt>
            </c:numLit>
          </c:cat>
          <c:val>
            <c:numLit>
              <c:formatCode>General</c:formatCode>
              <c:ptCount val="10"/>
              <c:pt idx="0">
                <c:v>8.7299</c:v>
              </c:pt>
              <c:pt idx="1">
                <c:v>8.1043</c:v>
              </c:pt>
              <c:pt idx="2">
                <c:v>7.3528</c:v>
              </c:pt>
              <c:pt idx="3">
                <c:v>6.7446</c:v>
              </c:pt>
              <c:pt idx="4">
                <c:v>6.5668</c:v>
              </c:pt>
              <c:pt idx="5">
                <c:v>6.3489</c:v>
              </c:pt>
              <c:pt idx="6">
                <c:v>6.2011</c:v>
              </c:pt>
              <c:pt idx="7">
                <c:v>6.1746</c:v>
              </c:pt>
              <c:pt idx="8">
                <c:v>6.1455</c:v>
              </c:pt>
              <c:pt idx="9">
                <c:v>6.1322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475569"/>
                    </a:solidFill>
                  </a:rPr>
                  <a:t>epoch samples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47556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75569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6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5B2DAC-1D9B-4AFC-94A9-8103929B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AutoPhaseNN 复现与 UMamba 替换实验汇报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932D4-37E4-46C8-AC7F-00BFD50B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目标：在保持 AutoPhaseNN 物理后处理与训练口径的前提下，将网络主体替换为 UMamba，并解释当前衍射域指标与实空间恢复不一致的原因。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16D77-8C38-4B8B-9254-07E51BF8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66BA4-A1EC-4ABE-930E-B98CA4E2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当前基线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31DCF-1ED4-411D-8C29-5ACA2315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val L1 3.70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3F6CF-6408-4AD7-8490-3A18A11F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100 epoch 完整复训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BAD52-4C07-4FD0-A71E-B0439B8E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19500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106A9-5227-4BD0-B18E-C528663D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528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UMamba 最新替换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94E7B-D2AD-4766-9A03-07F12A99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290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</a:defRPr>
            </a:pPr>
            <a:r>
              <a:rPr sz="2025" b="1">
                <a:solidFill>
                  <a:srgbClr val="D97706"/>
                </a:solidFill>
              </a:rPr>
              <a:t>val L1 5.46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B2FBF-4E86-4EFF-89C1-B3E8A9C1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100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原始 UMamba + AutoPhaseNN 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D67BC-CC49-4CB0-90E4-B25E8984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19500"/>
            <a:ext cx="2952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03D9F-8D19-4278-9399-B8EA5043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5285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关键问题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6FDD3-D268-48E1-88DB-F9CA657B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29075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实空间不匹配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51C29-1F10-4654-9383-2F4A2A4B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10075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amp / phase / support 不稳定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49767-103A-4255-BA10-7A46E68A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2026-06-15</a:t>
            </a:r>
          </a:p>
        </p:txBody>
      </p:sp>
    </p:spTree>
    <p:extLst>
      <p:ext uri="{BB962C8B-B14F-4D97-AF65-F5344CB8AC3E}">
        <p14:creationId xmlns:p14="http://schemas.microsoft.com/office/powerpoint/2010/main" val="209307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DA5CC8-D8EF-441B-865D-8E63D693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1 · 问题设置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FAEA2-4664-49B8-A319-EC5DFFE8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实验目标与统一口径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13B51-6C97-45B6-A12A-05FEE098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5BCE5-FC02-43F2-BB85-9DE7FE12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8544A-1756-42AB-B92A-4C432611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5143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• 原始任务：从 3D 衍射强度图 diff 恢复实空间物体的 amp、phase，并通过 FFT 回到衍射域计算损失。</a:t>
            </a:r>
          </a:p>
          <a:p xmlns:a="http://schemas.openxmlformats.org/drawingml/2006/main"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• 本轮实验尽量固定数据加载、后处理、损失函数、checkpoint、日志与评估，只替换模型主体。</a:t>
            </a:r>
          </a:p>
          <a:p xmlns:a="http://schemas.openxmlformats.org/drawingml/2006/main"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• 评判不只看衍射域 L1 / PCC，还必须看 amp、phase、support 是否落在正确中心区域。</a:t>
            </a:r>
          </a:p>
          <a:p xmlns:a="http://schemas.openxmlformats.org/drawingml/2006/main"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• 当前核心矛盾：UMamba 能把部分衍射域指标做得不差，但实空间结果会出现环状、空心或相位错位。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829BA-C9B6-4811-9055-E5CEBEFA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2481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CF8F8-36BA-4196-A929-4A5E7992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3355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6999B-CA0B-4B62-B27C-E0A565B5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192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输入衍射强度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F54E5-808A-47D2-8DBC-21232C64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F766E"/>
                </a:solidFill>
              </a:defRPr>
            </a:pPr>
            <a:r>
              <a:rPr sz="1650">
                <a:solidFill>
                  <a:srgbClr val="0F766E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4A5A8-AAD3-4557-AE6A-1EDC3D5A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A6B93-A165-4EC5-A1D9-899BCA7C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098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网络输出 amp / phase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8C0A8-4682-4B56-ADB8-0E060097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F766E"/>
                </a:solidFill>
              </a:defRPr>
            </a:pPr>
            <a:r>
              <a:rPr sz="1650">
                <a:solidFill>
                  <a:srgbClr val="0F766E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A5B8F-D794-44AB-B4D7-BE9E47F2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9D3AB-9038-4DEA-B0B3-04FA016B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阈值得到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885BC-8B3F-4EC5-8BEB-2048CEEF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F766E"/>
                </a:solidFill>
              </a:defRPr>
            </a:pPr>
            <a:r>
              <a:rPr sz="1650">
                <a:solidFill>
                  <a:srgbClr val="0F766E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EBDA2-6CAA-4925-9821-F7F63807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052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BBD57-F1BB-4680-8816-BDB715F3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9092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复数物体 → FFT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37293-11F0-4EDC-9FAE-F21103C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F766E"/>
                </a:solidFill>
              </a:defRPr>
            </a:pPr>
            <a:r>
              <a:rPr sz="1650">
                <a:solidFill>
                  <a:srgbClr val="0F766E"/>
                </a:solidFill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F305F-085F-4686-99FC-4E945D81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9BE93-056D-45BE-BE46-824BB7F6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814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与 diff 计算 loss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20511-8DB6-4AE2-9FFB-C876E77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4381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UMamba 替换实验的关键：后处理链路必须和 AutoPhaseNN 保持一致，否则无法判断差异来自模型还是物理约束。</a:t>
            </a:r>
          </a:p>
        </p:txBody>
      </p:sp>
    </p:spTree>
    <p:extLst>
      <p:ext uri="{BB962C8B-B14F-4D97-AF65-F5344CB8AC3E}">
        <p14:creationId xmlns:p14="http://schemas.microsoft.com/office/powerpoint/2010/main" val="1901705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534DBF-0B85-4E8E-A3DB-2623E02A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2 · 实验覆盖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F6DD0-2308-4699-B1C1-ED09C19B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本轮实验矩阵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75DFC-CD1D-432E-B48D-DF3A1A1D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CCC09-558D-4CE8-BA21-F520F6BE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1466850"/>
          <a:ext xmlns:a="http://schemas.openxmlformats.org/drawingml/2006/main" cx="10668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381125"/>
                <a:gridCol w="1428750"/>
                <a:gridCol w="2095500"/>
                <a:gridCol w="3952875"/>
              </a:tblGrid>
              <a:tr h="5715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实验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模型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样本/epoch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损失/后处理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当前结论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AutoPhaseNN 复现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AutoPhaseNN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full · 100ep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diff L1 · 硬 support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可复现，实空间结果合理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AutoPhaseNN 小样本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AutoPhaseNN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1000 · 200ep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diff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用于观察 amp/phase/support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UMamba 替换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UMamba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100 · 400ep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diff L1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FT 能下降，实空间失败明显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软阈值/only-diff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UMamba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历史实验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Sigmoid support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衍射指标好，但图像物理不对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强先验尝试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UMamba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多组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support-weight / center mask / zero-pad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仍未稳定复现 AutoPhaseNN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128AD-297D-4E93-8C2C-456B42C8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注：表中 “full” 表示完整训练/验证集；小样本实验用于排查是否能在固定样本上拟合并恢复实空间结构。</a:t>
            </a:r>
          </a:p>
        </p:txBody>
      </p:sp>
    </p:spTree>
    <p:extLst>
      <p:ext uri="{BB962C8B-B14F-4D97-AF65-F5344CB8AC3E}">
        <p14:creationId xmlns:p14="http://schemas.microsoft.com/office/powerpoint/2010/main" val="10549943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8810E8-7EA1-4022-866D-B9C59648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3 · AutoPhaseNN 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2B21E-5DA5-4234-B1DE-BC3795E1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AutoPhaseNN 已复现：训练曲线与关键指标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6F5E9-549A-4E78-A41D-213786E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DC080-0D5F-4AF7-8B5A-7BF01540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4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742950" y="1524000"/>
          <a:ext xmlns:a="http://schemas.openxmlformats.org/drawingml/2006/main" cx="6572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2eb7ea5d7e4c8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86B48-EFA2-4904-8917-566AF6B5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00200"/>
            <a:ext cx="2667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02E31-7E4F-4B2A-A9B9-9852B80A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7335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完整复训 Train L1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447FA-0FD0-4883-90D7-E2ABA8C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0977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2.93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2E48F-CCDC-4A9F-A6D8-D2A9375C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907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100 epoch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1391F-F777-48A4-B89F-FB4B8A18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81300"/>
            <a:ext cx="2667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F66F3-47CB-42F7-B245-DBDAA7A1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146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完整复训 Val L1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CF39F-B64E-4FD8-AEBD-28EBF14D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19087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3.70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C7BB2-460D-4A44-B094-31791CD1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718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100 epoch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76E92-BE65-4C69-9466-F3FF86C8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62400"/>
            <a:ext cx="2667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B10F4-0C9D-42C5-B158-5F486958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095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子集 Pearson Corr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37EE0-0C0B-41C9-87CA-BF452E2E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71975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A34A"/>
                </a:solidFill>
              </a:defRPr>
            </a:pPr>
            <a:r>
              <a:rPr sz="2025" b="1">
                <a:solidFill>
                  <a:srgbClr val="16A34A"/>
                </a:solidFill>
              </a:rPr>
              <a:t>0.923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29C815-D2B1-47F0-909E-892F8CF7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5297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visualization subset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44A114-E9C8-45C5-BBB4-0341B3DF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子集评估：FT L1=5.09，RelL1=0.429，Amp L1=0.0199，Support Dice=0.330，Phase MAE=0.873。</a:t>
            </a:r>
          </a:p>
        </p:txBody>
      </p:sp>
    </p:spTree>
    <p:extLst>
      <p:ext uri="{BB962C8B-B14F-4D97-AF65-F5344CB8AC3E}">
        <p14:creationId xmlns:p14="http://schemas.microsoft.com/office/powerpoint/2010/main" val="1200968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5FE9F8-C9BB-4212-9188-B2C9E89E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3 · AutoPhaseNN 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0E09F-2F63-4F52-A645-5F704D87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AutoPhaseNN 复现结果：实空间结构基本正确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13B98-4E5B-4821-B664-28E9BA0E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F4CEE-2556-42A9-A2DC-4F640751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87fee04f6477a"/>
          <a:stretch xmlns:a="http://schemas.openxmlformats.org/drawingml/2006/main"/>
        </p:blipFill>
        <p:spPr>
          <a:xfrm xmlns:a="http://schemas.openxmlformats.org/drawingml/2006/main">
            <a:off x="514350" y="1699636"/>
            <a:ext cx="11144250" cy="2791978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0C100-8A2B-4C7F-9FDE-C85F0E54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• Pred FT 与输入 FT 的主结构一致，说明衍射域拟合方向正确。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• Pred amp/support 落在中心 compact support 区域，形状和真值接近。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• Pred phase 在目标区域内有合理连续变化，误差主要集中在边界。</a:t>
            </a:r>
          </a:p>
        </p:txBody>
      </p:sp>
    </p:spTree>
    <p:extLst>
      <p:ext uri="{BB962C8B-B14F-4D97-AF65-F5344CB8AC3E}">
        <p14:creationId xmlns:p14="http://schemas.microsoft.com/office/powerpoint/2010/main" val="973490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4E6B28-EC38-4765-BFC3-1835D915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4 · UMamba 替换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DCF7E-6842-4B8C-A4DE-1826BEC6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UMamba 替换：训练能下降，但没有复现 AutoPhaseNN 的实空间先验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3EB59-1166-4FA6-9E36-90C44323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7750B-0F05-4D17-A7DD-40ABBF51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6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742950" y="1524000"/>
          <a:ext xmlns:a="http://schemas.openxmlformats.org/drawingml/2006/main" cx="6096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52733b55a24c2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67EC9-4F7C-4011-A680-0D8EFC7C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6210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51EED-7167-44E3-A00E-17DE1B5E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954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UMamba 100样本 Train L1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32E65-3E06-4F01-854D-1FDE38B7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716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</a:defRPr>
            </a:pPr>
            <a:r>
              <a:rPr sz="2025" b="1">
                <a:solidFill>
                  <a:srgbClr val="D97706"/>
                </a:solidFill>
              </a:rPr>
              <a:t>6.11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5F2B4-E44C-4DF4-964D-FF9F5F9F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526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400 epoch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829B0-5E67-44BE-AE11-97C0442A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FF142-BD64-459A-8DE6-BCF2C02F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003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UMamba 100样本 Val L1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1F2ED-EA53-4BD4-B18E-649B365C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765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6.13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E35003-6034-40BC-B1EA-90B297BB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575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400 epoch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5F8DDF-3F77-4EDA-BDD3-D286574E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71900"/>
            <a:ext cx="3048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393C0-FA69-4CAC-81D8-001F7339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05250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Real-space Support Dice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E34B8-9CE2-4B0F-9B3E-29E49C7C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81475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1C1C"/>
                </a:solidFill>
              </a:defRPr>
            </a:pPr>
            <a:r>
              <a:rPr sz="2025" b="1">
                <a:solidFill>
                  <a:srgbClr val="B91C1C"/>
                </a:solidFill>
              </a:rPr>
              <a:t>0.012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121A5-105D-4E39-9B13-061BA867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6247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非常低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D858F-A484-482D-9826-56DE7E6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UMamba 100样本评估：FT L1=6.10，Pearson=0.822，Amp L1=0.0255，Phase MAE=2.402。</a:t>
            </a:r>
          </a:p>
        </p:txBody>
      </p:sp>
    </p:spTree>
    <p:extLst>
      <p:ext uri="{BB962C8B-B14F-4D97-AF65-F5344CB8AC3E}">
        <p14:creationId xmlns:p14="http://schemas.microsoft.com/office/powerpoint/2010/main" val="1350135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A2E69E-F5D4-44B5-A3FC-9A1CCBC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4 · UMamba 替换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FDFE8-671F-4668-9694-3EA4FE6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UMamba 可视化：衍射域接近，amp / phase / support 不可信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9B4E6-873F-484E-8003-DE9F4882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B4B39-29E2-448A-881D-9B692BA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671060cf04a59"/>
          <a:stretch xmlns:a="http://schemas.openxmlformats.org/drawingml/2006/main"/>
        </p:blipFill>
        <p:spPr>
          <a:xfrm xmlns:a="http://schemas.openxmlformats.org/drawingml/2006/main">
            <a:off x="514350" y="1699636"/>
            <a:ext cx="11144250" cy="2791978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9F82E-28CF-4515-B924-3788E282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• Pred FT 的中心与条纹结构可以接近输入，因此单看 diff L1/PCC 容易误判。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• Pred amp/support 变成环状或空心结构，偏离真实 compact object。</a:t>
            </a:r>
          </a:p>
          <a:p xmlns:a="http://schemas.openxmlformats.org/drawingml/2006/main">
            <a:pPr>
              <a:defRPr sz="1275">
                <a:solidFill>
                  <a:srgbClr val="0F172A"/>
                </a:solidFill>
              </a:defRPr>
            </a:pPr>
            <a:r>
              <a:rPr sz="1275">
                <a:solidFill>
                  <a:srgbClr val="0F172A"/>
                </a:solidFill>
              </a:rPr>
              <a:t>• Pred phase 基本没有恢复出真值区域内的相位分布。</a:t>
            </a:r>
          </a:p>
        </p:txBody>
      </p:sp>
    </p:spTree>
    <p:extLst>
      <p:ext uri="{BB962C8B-B14F-4D97-AF65-F5344CB8AC3E}">
        <p14:creationId xmlns:p14="http://schemas.microsoft.com/office/powerpoint/2010/main" val="421907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A5D2CF-E829-4149-A8B7-D993DA46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5 · 软阈值实验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6A280-D8C6-4E40-9AFE-2C1229D8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软阈值 / only-diff 结果：指标看起来可以，但图像仍失败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35F5CC-B8BA-4867-8ACC-81DE460A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0A6D0-1DD5-4047-B440-4394823F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63817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571625"/>
                <a:gridCol w="1762125"/>
                <a:gridCol w="1619250"/>
              </a:tblGrid>
              <a:tr h="48985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AutoPhaseNN 子集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UMamba soft/only-diff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UMamba 100样本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FT L1 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5.09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4.63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6.10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Rel L1 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0.429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0.394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0.523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Pearson 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0.923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0.980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0.822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Amp L1 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0.0199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0.0484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0.0255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Support Dice 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0.330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0.205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0.012</a:t>
                      </a:r>
                    </a:p>
                  </a:txBody>
                  <a:tcPr marL="91440" marR="91440" marT="45720" marB="45720"/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Phase MAE 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0.873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1.037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2.402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82A64-083F-461D-8ABD-AA79553E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85900"/>
            <a:ext cx="381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6E5D7-828F-4197-9A2A-FF6B31AF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6573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待补图：soft-threshold / only-diff 可视化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4EC27-4769-40DF-9D1E-2BFBDBFA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38350"/>
            <a:ext cx="3467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建议放同一小样本的 Input FT、Pred FT、True/Pred amp、True/Pred phase、support 对比图。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1DB9E-3ED2-447E-AC65-E116C2E7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3810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7DEB0-8338-41AA-AEE9-2EB121F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90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当前判断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9F6EF-44CD-4690-B32E-F7BA59A0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10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软阈值让梯度更连续，但不能替代 compact support / 中心区域等硬空间先验。衍射域 Pearson 高并不保证实空间唯一。</a:t>
            </a:r>
          </a:p>
        </p:txBody>
      </p:sp>
    </p:spTree>
    <p:extLst>
      <p:ext uri="{BB962C8B-B14F-4D97-AF65-F5344CB8AC3E}">
        <p14:creationId xmlns:p14="http://schemas.microsoft.com/office/powerpoint/2010/main" val="7422568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362FE1-88AC-4817-9587-71224B43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6 · 排查与尝试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3DE81-DCD5-4F1F-A4C9-CB498F1F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物理先验尝试与结果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8D3FD-FFF6-4220-A445-F02D7DA3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1EC9E-FF01-4050-A8BE-5B138445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9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347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3000375"/>
                <a:gridCol w="2857500"/>
                <a:gridCol w="3552825"/>
              </a:tblGrid>
              <a:tr h="5715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尝试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做法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结果/现象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当前判断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support-weight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训练 loss 中加入 support/amp/phase 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能监控实空间，但约束偏软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辅助排查，不是硬保证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zero-pad/center-pad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把 UMamba 部分上采样改得更像 AutoPhaseNN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影响训练轨迹，但未稳定复现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架构先验仍不足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固定中心 mask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输出 amp/phase 后中心外强制为 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当前 val≈11.80，早期崩掉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硬但过强，需谨慎调度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原始 UMamba + pipeline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复制 AutoPhaseNN pipeline，仅替换模型主体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81ep val≈5.46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825">
                          <a:solidFill>
                            <a:srgbClr val="0F172A"/>
                          </a:solidFill>
                        </a:rPr>
                        <a:t>仍需继续验证可视化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1CDE6-5CAE-46F1-9704-7CC5E66C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3000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03F46-2573-4EA2-95C9-5DB0362F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待补图：support-weight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2E8DD-F7EA-4B40-B27F-EC1BE2AB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放训练后 amp/phase/support 可视化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1E7A1-7A9C-43E6-9D83-F60DC93E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29150"/>
            <a:ext cx="3000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1C1C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38FB37-6703-465B-A146-B63A43D5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待补图：center 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4FD67-A7BB-496F-A1A6-33E6FA8A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816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放中心硬 mask 训练可视化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D8DF7-39A4-4F66-979C-47877A69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30003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68EB8-EB74-4DA2-B453-179A0E2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00600"/>
            <a:ext cx="2657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待补图：latest UMamba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8C864-B438-401E-930E-91887C72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81600"/>
            <a:ext cx="2657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放 umamba_based_autophasenn 最新可视化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F7B82-F195-4998-9618-0666CE8F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目前最关键的不是继续堆损失项，而是判断 UMamba 是否需要显式 compact support / 中心区域硬先验，或者重新设计解码器的空间归纳偏置。</a:t>
            </a:r>
          </a:p>
        </p:txBody>
      </p:sp>
    </p:spTree>
    <p:extLst>
      <p:ext uri="{BB962C8B-B14F-4D97-AF65-F5344CB8AC3E}">
        <p14:creationId xmlns:p14="http://schemas.microsoft.com/office/powerpoint/2010/main" val="1723053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D370AB-A2EC-48E6-B202-2DB4B9DC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7 · 结论解释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9EB23-F273-4BF9-9984-754EE877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当前解释：衍射域拟合不等价于实空间正确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E9DA1-391D-40BA-B0F0-2978B9AA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7FFE3-3A16-48D4-A264-640E7E31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F25F9-C20A-4E39-8FD0-AAB53467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F2405-9949-401D-A3F3-A279F770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52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AutoPhaseNN 为什么更容易成功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14DDA-48F2-40B6-8B88-BD937036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• 硬阈值 support 让物体天然稀疏、紧支撑。</a:t>
            </a:r>
          </a:p>
          <a:p xmlns:a="http://schemas.openxmlformats.org/drawingml/2006/main"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• 原网络解码器的上采样/zero-pad 结构带有空间位置偏置。</a:t>
            </a:r>
          </a:p>
          <a:p xmlns:a="http://schemas.openxmlformats.org/drawingml/2006/main"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• 论文任务依赖 oversampling + compact support 的相位恢复假设。</a:t>
            </a:r>
          </a:p>
          <a:p xmlns:a="http://schemas.openxmlformats.org/drawingml/2006/main"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• 这些偏置共同缩小了可行解空间。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64237-C113-44B7-A715-9A436AF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66850"/>
            <a:ext cx="50482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1DABB-44D4-4835-BD0F-E56C62C3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UMamba 当前的问题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20B4D-7B0E-44F6-B73A-1DF7DAD9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86000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• Sigmoid/Tanh 主要限制数值范围，不等价于空间几何约束。</a:t>
            </a:r>
          </a:p>
          <a:p xmlns:a="http://schemas.openxmlformats.org/drawingml/2006/main"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• 模型可以找到衍射域近似解，但实空间出现环状/空心伪解。</a:t>
            </a:r>
          </a:p>
          <a:p xmlns:a="http://schemas.openxmlformats.org/drawingml/2006/main"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• support-weight 等软损失会被 FT loss 主导，不能强制唯一结构。</a:t>
            </a:r>
          </a:p>
          <a:p xmlns:a="http://schemas.openxmlformats.org/drawingml/2006/main">
            <a:pPr>
              <a:defRPr sz="1350">
                <a:solidFill>
                  <a:srgbClr val="0F172A"/>
                </a:solidFill>
              </a:defRPr>
            </a:pPr>
            <a:r>
              <a:rPr sz="1350">
                <a:solidFill>
                  <a:srgbClr val="0F172A"/>
                </a:solidFill>
              </a:rPr>
              <a:t>• 因此必须把“实空间是否正确”作为主评估口径。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DC239-702D-49BC-AF1A-4A3DB6D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这不是单纯学习率慢的问题，而是目标函数与模型先验共同导致的欠约束。</a:t>
            </a:r>
          </a:p>
        </p:txBody>
      </p:sp>
    </p:spTree>
    <p:extLst>
      <p:ext uri="{BB962C8B-B14F-4D97-AF65-F5344CB8AC3E}">
        <p14:creationId xmlns:p14="http://schemas.microsoft.com/office/powerpoint/2010/main" val="2937655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1C65D3-CF5D-4255-8948-2524482E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8 · 下一阶段计划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C2D88-98BC-4B91-8267-AB9C9D2E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建议下一步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429D8-A07A-4737-BCE8-4542F54C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B72E4-DD4F-4557-961A-703B572D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F9216-1DF6-481F-98D3-0F076CBC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7E37B-9746-402D-881E-DAB77362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Step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3850C-79FA-4E04-ACA8-8E530432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统一评估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8E8A2-EFB8-4F3F-B925-A44A8BCD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1457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同一批样本、同一可视化、同一指标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F90B9-F735-4778-A38B-BF049F0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240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3B169-0CE5-467B-8DDF-E9BC8816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573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47D6E-62E0-4F9F-A284-2C03ACE6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335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63EB"/>
                </a:solidFill>
              </a:defRPr>
            </a:pPr>
            <a:r>
              <a:rPr sz="2025" b="1">
                <a:solidFill>
                  <a:srgbClr val="2563EB"/>
                </a:solidFill>
              </a:rPr>
              <a:t>复现优先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FFE19-7F9E-43D0-9BB9-E2C53B46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1457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先把 AutoPhaseNN 从0训练跑稳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84A61-5A1D-4A67-B409-F3AF1244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24000"/>
            <a:ext cx="285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8D493-58C5-486E-9389-01702341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573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Step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86690-B179-48F3-B460-70D020AF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335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7706"/>
                </a:solidFill>
              </a:defRPr>
            </a:pPr>
            <a:r>
              <a:rPr sz="2025" b="1">
                <a:solidFill>
                  <a:srgbClr val="D97706"/>
                </a:solidFill>
              </a:rPr>
              <a:t>硬先验消融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10BB6-920A-43A6-8B27-D1AE3C0A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1457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  <a:r>
              <a:rPr sz="825">
                <a:solidFill>
                  <a:srgbClr val="475569"/>
                </a:solidFill>
              </a:rPr>
              <a:t>只改一个变量：support / mask / decoder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C01FD-7803-40F2-B788-FF577071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• 继续用 AutoPhaseNN pipeline 作为唯一训练口径，避免 dataloader、归一化、后处理差异混入。</a:t>
            </a:r>
          </a:p>
          <a:p xmlns:a="http://schemas.openxmlformats.org/drawingml/2006/main"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• UMamba 实验优先做 “原始模型 vs 中心硬 mask vs AutoPhaseNN式解码器” 的单因素对照。</a:t>
            </a:r>
          </a:p>
          <a:p xmlns:a="http://schemas.openxmlformats.org/drawingml/2006/main"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• 每次训练都输出统一指标：FT L1、RelL1、Pearson、Amp L1、Support IoU/Dice、Phase MAE，并同步可视化同一小样本。</a:t>
            </a:r>
          </a:p>
          <a:p xmlns:a="http://schemas.openxmlformats.org/drawingml/2006/main">
            <a:pPr>
              <a:defRPr sz="1425">
                <a:solidFill>
                  <a:srgbClr val="0F172A"/>
                </a:solidFill>
              </a:defRPr>
            </a:pPr>
            <a:r>
              <a:rPr sz="1425">
                <a:solidFill>
                  <a:srgbClr val="0F172A"/>
                </a:solidFill>
              </a:rPr>
              <a:t>• 若硬中心 mask 有效，再逐步放宽为可学习 support 或带 warmup 的 support regularization。</a:t>
            </a:r>
          </a:p>
        </p:txBody>
      </p:sp>
    </p:spTree>
    <p:extLst>
      <p:ext uri="{BB962C8B-B14F-4D97-AF65-F5344CB8AC3E}">
        <p14:creationId xmlns:p14="http://schemas.microsoft.com/office/powerpoint/2010/main" val="15300319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37274A-FCC0-42E7-BEE5-B61D8829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9 · 汇报摘要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40047-AE62-48FB-9413-04CA4210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阶段性结论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EBD4D-CC25-456A-8369-8E095AB2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18B56-91FF-4221-BAF2-FD87AF74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94A3B8"/>
                </a:solidFill>
              </a:defRPr>
            </a:pPr>
            <a:r>
              <a:rPr sz="750">
                <a:solidFill>
                  <a:srgbClr val="94A3B8"/>
                </a:solidFill>
              </a:rPr>
              <a:t>AutoPhaseNN / UMamba Phase Retrieval Experiments ·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F37EB-BD3B-4FC3-8A73-D07FBC49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103822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15081-071D-4F97-931B-870B3883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28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51B0E-6A68-4E9E-B2C1-B12C3474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478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AutoPhaseNN 已经能够复现：训练曲线下降，验证图中 amp / phase / support 基本位于中心 compact object 区域。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22290-5593-484D-94B2-1599A4FC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97706"/>
                </a:solidFill>
              </a:defRPr>
            </a:pPr>
            <a:r>
              <a:rPr sz="2250" b="1">
                <a:solidFill>
                  <a:srgbClr val="D9770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6D748-97A2-4396-B01C-2357AC7C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003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UMamba 替换后，衍射域损失可以下降，但实空间结构出现环状/空心伪解，说明仅靠 diff L1 不够。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22B54-2B7C-4BCB-9448-A18BEC10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338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</a:defRPr>
            </a:pPr>
            <a:r>
              <a:rPr sz="2250" b="1">
                <a:solidFill>
                  <a:srgbClr val="B91C1C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B024A-AB36-4E50-8CE5-052D6310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F172A"/>
                </a:solidFill>
              </a:defRPr>
            </a:pPr>
            <a:r>
              <a:rPr sz="1575">
                <a:solidFill>
                  <a:srgbClr val="0F172A"/>
                </a:solidFill>
              </a:rPr>
              <a:t>软阈值、support-weight、center mask、zero-pad 等尝试提供了排查证据，但当前还没有替代 AutoPhaseNN 架构先验的稳定方案。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4C11C-306B-4905-9596-8BB65BAE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625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下一阶段重点：固定 pipeline，做硬空间先验的单因素消融，并把可视化样本和统一指标作为主要判断标准。</a:t>
            </a:r>
          </a:p>
        </p:txBody>
      </p:sp>
    </p:spTree>
    <p:extLst>
      <p:ext uri="{BB962C8B-B14F-4D97-AF65-F5344CB8AC3E}">
        <p14:creationId xmlns:p14="http://schemas.microsoft.com/office/powerpoint/2010/main" val="1375563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2026-06-15T08:35:41.6690000Z</dcterms:created>
  <dcterms:modified xsi:type="dcterms:W3CDTF">2026-06-15T08:35:41.6690000Z</dcterms:modified>
</coreProperties>
</file>