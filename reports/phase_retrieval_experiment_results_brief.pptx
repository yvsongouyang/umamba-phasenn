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805db8ded4d28" /><Relationship Type="http://schemas.openxmlformats.org/officeDocument/2006/relationships/extended-properties" Target="/docProps/app.xml" Id="R59c62514e22948f4" /><Relationship Type="http://schemas.openxmlformats.org/officeDocument/2006/relationships/officeDocument" Target="/ppt/presentation.xml" Id="R67b3ffe3c51c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c5b842987d4d33"/>
  </p:sldMasterIdLst>
  <p:notesMasterIdLst>
    <p:notesMasterId xmlns:r="http://schemas.openxmlformats.org/officeDocument/2006/relationships" r:id="R5059d2a1312041cd"/>
  </p:notesMasterIdLst>
  <p:sldIdLst>
    <p:sldId xmlns:r="http://schemas.openxmlformats.org/officeDocument/2006/relationships" id="256" r:id="R95aa4df390924bb2"/>
    <p:sldId xmlns:r="http://schemas.openxmlformats.org/officeDocument/2006/relationships" id="257" r:id="R8fd870aa80b2490e"/>
    <p:sldId xmlns:r="http://schemas.openxmlformats.org/officeDocument/2006/relationships" id="258" r:id="R22c8da24ad4f49ea"/>
    <p:sldId xmlns:r="http://schemas.openxmlformats.org/officeDocument/2006/relationships" id="259" r:id="Rf2b0b92b7de644da"/>
    <p:sldId xmlns:r="http://schemas.openxmlformats.org/officeDocument/2006/relationships" id="260" r:id="Raf016609a81e45bc"/>
    <p:sldId xmlns:r="http://schemas.openxmlformats.org/officeDocument/2006/relationships" id="261" r:id="Rce3c70d15a644b99"/>
    <p:sldId xmlns:r="http://schemas.openxmlformats.org/officeDocument/2006/relationships" id="262" r:id="R40a2a35a8b274b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41e2fb014449e" /><Relationship Type="http://schemas.openxmlformats.org/officeDocument/2006/relationships/slideMaster" Target="/ppt/slideMasters/slideMaster1.xml" Id="Ra9c5b842987d4d33" /><Relationship Type="http://schemas.openxmlformats.org/officeDocument/2006/relationships/notesMaster" Target="/ppt/notesMasters/notesMaster1.xml" Id="R5059d2a1312041cd" /><Relationship Type="http://schemas.openxmlformats.org/officeDocument/2006/relationships/presProps" Target="/ppt/presProps.xml" Id="R105e6e1ebdbd4d24" /><Relationship Type="http://schemas.openxmlformats.org/officeDocument/2006/relationships/tableStyles" Target="/ppt/tableStyles.xml" Id="R9cab442b76364021" /><Relationship Type="http://schemas.openxmlformats.org/officeDocument/2006/relationships/slide" Target="/ppt/slides/slide1.xml" Id="R95aa4df390924bb2" /><Relationship Type="http://schemas.openxmlformats.org/officeDocument/2006/relationships/slide" Target="/ppt/slides/slide2.xml" Id="R8fd870aa80b2490e" /><Relationship Type="http://schemas.openxmlformats.org/officeDocument/2006/relationships/slide" Target="/ppt/slides/slide3.xml" Id="R22c8da24ad4f49ea" /><Relationship Type="http://schemas.openxmlformats.org/officeDocument/2006/relationships/slide" Target="/ppt/slides/slide4.xml" Id="Rf2b0b92b7de644da" /><Relationship Type="http://schemas.openxmlformats.org/officeDocument/2006/relationships/slide" Target="/ppt/slides/slide5.xml" Id="Raf016609a81e45bc" /><Relationship Type="http://schemas.openxmlformats.org/officeDocument/2006/relationships/slide" Target="/ppt/slides/slide6.xml" Id="Rce3c70d15a644b99" /><Relationship Type="http://schemas.openxmlformats.org/officeDocument/2006/relationships/slide" Target="/ppt/slides/slide7.xml" Id="R40a2a35a8b27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3d9e442ea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e322b03c8463c" /><Relationship Type="http://schemas.openxmlformats.org/officeDocument/2006/relationships/notesMaster" Target="/ppt/notesMasters/notesMaster1.xml" Id="Rfbea8f271dcd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2cfed017a448ba" /><Relationship Type="http://schemas.openxmlformats.org/officeDocument/2006/relationships/notesMaster" Target="/ppt/notesMasters/notesMaster1.xml" Id="R070c2b588da8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d586fc5f124b0d" /><Relationship Type="http://schemas.openxmlformats.org/officeDocument/2006/relationships/notesMaster" Target="/ppt/notesMasters/notesMaster1.xml" Id="R7c6727fb7b3247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52914c8a04375" /><Relationship Type="http://schemas.openxmlformats.org/officeDocument/2006/relationships/notesMaster" Target="/ppt/notesMasters/notesMaster1.xml" Id="R59e2453ad07e4e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3c2858fca412d" /><Relationship Type="http://schemas.openxmlformats.org/officeDocument/2006/relationships/notesMaster" Target="/ppt/notesMasters/notesMaster1.xml" Id="R7ebc63f266bc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34d80dead14d55" /><Relationship Type="http://schemas.openxmlformats.org/officeDocument/2006/relationships/notesMaster" Target="/ppt/notesMasters/notesMaster1.xml" Id="R89556d21a5dc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75fbc1b0534821" /><Relationship Type="http://schemas.openxmlformats.org/officeDocument/2006/relationships/notesMaster" Target="/ppt/notesMasters/notesMaster1.xml" Id="R0328c3a28916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83eae571543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07e8c49cd64fd8" /><Relationship Type="http://schemas.openxmlformats.org/officeDocument/2006/relationships/slideLayout" Target="/ppt/slideLayouts/slideLayout1.xml" Id="R6b9753d7a781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753d7a781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ce8b02bcc4d54" /><Relationship Type="http://schemas.openxmlformats.org/officeDocument/2006/relationships/notesSlide" Target="/ppt/notesSlides/notesSlide1.xml" Id="R4a4b93b04b4b46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4ccde9d44033" /><Relationship Type="http://schemas.openxmlformats.org/officeDocument/2006/relationships/chart" Target="/ppt/slides/charts/chart1.xml" Id="R23aecb3c50ed47e5" /><Relationship Type="http://schemas.openxmlformats.org/officeDocument/2006/relationships/notesSlide" Target="/ppt/notesSlides/notesSlide2.xml" Id="Rfb1646f7dd45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03f82cd2438f" /><Relationship Type="http://schemas.openxmlformats.org/officeDocument/2006/relationships/image" Target="/ppt/media/image.png" Id="Re13c3342cfbd4d5f" /><Relationship Type="http://schemas.openxmlformats.org/officeDocument/2006/relationships/notesSlide" Target="/ppt/notesSlides/notesSlide3.xml" Id="R460ac5342fc9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983bc4be84ef0" /><Relationship Type="http://schemas.openxmlformats.org/officeDocument/2006/relationships/notesSlide" Target="/ppt/notesSlides/notesSlide4.xml" Id="R695248b53f8741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e861286be43b1" /><Relationship Type="http://schemas.openxmlformats.org/officeDocument/2006/relationships/image" Target="/ppt/media/image2.png" Id="Rb70e00db33d14851" /><Relationship Type="http://schemas.openxmlformats.org/officeDocument/2006/relationships/notesSlide" Target="/ppt/notesSlides/notesSlide5.xml" Id="R2aded3babc4e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bfc70851e4d8a" /><Relationship Type="http://schemas.openxmlformats.org/officeDocument/2006/relationships/notesSlide" Target="/ppt/notesSlides/notesSlide6.xml" Id="R561de9326e2848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b5c430dc248b5" /><Relationship Type="http://schemas.openxmlformats.org/officeDocument/2006/relationships/notesSlide" Target="/ppt/notesSlides/notesSlide7.xml" Id="Rdf3bf1b0538141a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AutoPhaseNN val L1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2"/>
              <c:pt idx="0">
                <c:v>1</c:v>
              </c:pt>
              <c:pt idx="1">
                <c:v>10</c:v>
              </c:pt>
              <c:pt idx="2">
                <c:v>19</c:v>
              </c:pt>
              <c:pt idx="3">
                <c:v>28</c:v>
              </c:pt>
              <c:pt idx="4">
                <c:v>37</c:v>
              </c:pt>
              <c:pt idx="5">
                <c:v>46</c:v>
              </c:pt>
              <c:pt idx="6">
                <c:v>55</c:v>
              </c:pt>
              <c:pt idx="7">
                <c:v>64</c:v>
              </c:pt>
              <c:pt idx="8">
                <c:v>73</c:v>
              </c:pt>
              <c:pt idx="9">
                <c:v>82</c:v>
              </c:pt>
              <c:pt idx="10">
                <c:v>91</c:v>
              </c:pt>
              <c:pt idx="11">
                <c:v>100</c:v>
              </c:pt>
            </c:numLit>
          </c:cat>
          <c:val>
            <c:numLit>
              <c:formatCode>General</c:formatCode>
              <c:ptCount val="12"/>
              <c:pt idx="0">
                <c:v>6.5244</c:v>
              </c:pt>
              <c:pt idx="1">
                <c:v>4.9689</c:v>
              </c:pt>
              <c:pt idx="2">
                <c:v>4.2693</c:v>
              </c:pt>
              <c:pt idx="3">
                <c:v>4.0573</c:v>
              </c:pt>
              <c:pt idx="4">
                <c:v>3.9856</c:v>
              </c:pt>
              <c:pt idx="5">
                <c:v>3.8865</c:v>
              </c:pt>
              <c:pt idx="6">
                <c:v>3.7563</c:v>
              </c:pt>
              <c:pt idx="7">
                <c:v>3.7539</c:v>
              </c:pt>
              <c:pt idx="8">
                <c:v>3.7065</c:v>
              </c:pt>
              <c:pt idx="9">
                <c:v>3.7025</c:v>
              </c:pt>
              <c:pt idx="10">
                <c:v>3.6975</c:v>
              </c:pt>
              <c:pt idx="11">
                <c:v>3.7</c:v>
              </c:pt>
            </c:numLit>
          </c:val>
          <c:smooth val="0"/>
        </c:ser>
        <c:ser>
          <c:idx val="1"/>
          <c:order val="1"/>
          <c:tx>
            <c:v>UMamba hard val L1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2"/>
              <c:pt idx="0">
                <c:v>1</c:v>
              </c:pt>
              <c:pt idx="1">
                <c:v>10</c:v>
              </c:pt>
              <c:pt idx="2">
                <c:v>19</c:v>
              </c:pt>
              <c:pt idx="3">
                <c:v>28</c:v>
              </c:pt>
              <c:pt idx="4">
                <c:v>37</c:v>
              </c:pt>
              <c:pt idx="5">
                <c:v>46</c:v>
              </c:pt>
              <c:pt idx="6">
                <c:v>55</c:v>
              </c:pt>
              <c:pt idx="7">
                <c:v>64</c:v>
              </c:pt>
              <c:pt idx="8">
                <c:v>73</c:v>
              </c:pt>
              <c:pt idx="9">
                <c:v>82</c:v>
              </c:pt>
              <c:pt idx="10">
                <c:v>91</c:v>
              </c:pt>
              <c:pt idx="11">
                <c:v>100</c:v>
              </c:pt>
            </c:numLit>
          </c:cat>
          <c:val>
            <c:numLit>
              <c:formatCode>General</c:formatCode>
              <c:ptCount val="12"/>
              <c:pt idx="0">
                <c:v>8.7299</c:v>
              </c:pt>
              <c:pt idx="1">
                <c:v>8.267</c:v>
              </c:pt>
              <c:pt idx="2">
                <c:v>7.6335</c:v>
              </c:pt>
              <c:pt idx="3">
                <c:v>7.0072</c:v>
              </c:pt>
              <c:pt idx="4">
                <c:v>6.6558</c:v>
              </c:pt>
              <c:pt idx="5">
                <c:v>6.4828</c:v>
              </c:pt>
              <c:pt idx="6">
                <c:v>6.3344</c:v>
              </c:pt>
              <c:pt idx="7">
                <c:v>6.2196</c:v>
              </c:pt>
              <c:pt idx="8">
                <c:v>6.1839</c:v>
              </c:pt>
              <c:pt idx="9">
                <c:v>6.1602</c:v>
              </c:pt>
              <c:pt idx="10">
                <c:v>6.1435</c:v>
              </c:pt>
              <c:pt idx="11">
                <c:v>6.1322</c:v>
              </c:pt>
            </c:numLit>
          </c:val>
          <c:smooth val="0"/>
        </c:ser>
        <c:ser>
          <c:idx val="2"/>
          <c:order val="2"/>
          <c:tx>
            <c:v>UMamba soft/support val L1</c:v>
          </c:tx>
          <c:spPr>
            <a:ln xmlns:a="http://schemas.openxmlformats.org/drawingml/2006/main" w="28575">
              <a:solidFill>
                <a:srgbClr val="B91C1C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2"/>
              <c:pt idx="0">
                <c:v>1</c:v>
              </c:pt>
              <c:pt idx="1">
                <c:v>10</c:v>
              </c:pt>
              <c:pt idx="2">
                <c:v>19</c:v>
              </c:pt>
              <c:pt idx="3">
                <c:v>28</c:v>
              </c:pt>
              <c:pt idx="4">
                <c:v>37</c:v>
              </c:pt>
              <c:pt idx="5">
                <c:v>46</c:v>
              </c:pt>
              <c:pt idx="6">
                <c:v>55</c:v>
              </c:pt>
              <c:pt idx="7">
                <c:v>64</c:v>
              </c:pt>
              <c:pt idx="8">
                <c:v>73</c:v>
              </c:pt>
              <c:pt idx="9">
                <c:v>82</c:v>
              </c:pt>
              <c:pt idx="10">
                <c:v>91</c:v>
              </c:pt>
              <c:pt idx="11">
                <c:v>100</c:v>
              </c:pt>
            </c:numLit>
          </c:cat>
          <c:val>
            <c:numLit>
              <c:formatCode>General</c:formatCode>
              <c:ptCount val="12"/>
              <c:pt idx="0">
                <c:v>9.8407</c:v>
              </c:pt>
              <c:pt idx="1">
                <c:v>8.6953</c:v>
              </c:pt>
              <c:pt idx="2">
                <c:v>8.5862</c:v>
              </c:pt>
              <c:pt idx="3">
                <c:v>7.9097</c:v>
              </c:pt>
              <c:pt idx="4">
                <c:v>7.8746</c:v>
              </c:pt>
              <c:pt idx="5">
                <c:v>7.6709</c:v>
              </c:pt>
              <c:pt idx="6">
                <c:v>7.3503</c:v>
              </c:pt>
              <c:pt idx="7">
                <c:v>7.1919</c:v>
              </c:pt>
              <c:pt idx="8">
                <c:v>7.1468</c:v>
              </c:pt>
              <c:pt idx="9">
                <c:v>7.0519</c:v>
              </c:pt>
              <c:pt idx="10">
                <c:v>7.0249</c:v>
              </c:pt>
              <c:pt idx="11">
                <c:v>7.0094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6032D-399F-4609-B772-42B6D51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AutoPhaseNN 复现与 UMamba 替换实验结果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73D11-6A79-4F36-B741-AA0564D1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简洁版：只展示关键曲线、完整可视化图和主要指标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E2841-B761-4316-8DD5-72E36534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B6DC7-BF45-4318-AB63-EE17841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24B01-8969-4A6E-A350-BB9EB3F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AutoPhaseNN full val 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E99D3-638B-4BDB-8074-91C60A8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3.70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969E7-4809-4075-837D-41B684A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499AC-BDC5-45DD-9915-91ACD8F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UMamba hard val 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EA723-6F7E-4633-95AC-269DF892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6.13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E0647-388D-4E5B-BBA0-CB650A45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F68E5-4BAE-46ED-81BA-A396B11B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UMamba soft val 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663D0-0EF1-41B3-9ED3-24CB4DA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7.01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B6476-FE75-4E1A-AFC0-096A0233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2238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9C9F1-6877-46F7-8929-E4BB1D8A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Soft FT Pearson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AE862-8567-4814-A833-CAF3D160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0.980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838200" y="3143250"/>
          <a:ext xmlns:a="http://schemas.openxmlformats.org/drawingml/2006/main" cx="102870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952750"/>
                <a:gridCol w="5334000"/>
              </a:tblGrid>
              <a:tr h="50006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训练设置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当前观察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AutoPhaseNN 复现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full set / L1 / hard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可视化中 amp、phase、support 基本在中心目标区域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 原始硬阈值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100 samples / 400 epoch /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loss 可下降，但实空间 support/phase 指标很差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 软阈值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soft support / only-diff 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FT 指标可以较好，但实空间图仍需补充独立可视化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AAFF3-39F7-43B1-AEAE-A6E4E666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图像说明：本版 PPT 不裁剪图片，直接放完整结果图；当前仓库缺少一张非空的 UMamba hard/soft 独立可视化图，已在对应页留位。</a:t>
            </a:r>
          </a:p>
        </p:txBody>
      </p:sp>
    </p:spTree>
    <p:extLst>
      <p:ext uri="{BB962C8B-B14F-4D97-AF65-F5344CB8AC3E}">
        <p14:creationId xmlns:p14="http://schemas.microsoft.com/office/powerpoint/2010/main" val="422995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10F57-C31F-4108-9AB8-7B13C051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训练损失下降曲线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2666A-D0B7-4526-9EDE-45029981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同图展示 AutoPhaseNN、UMamba hard、UMamba soft/support run 的 loss 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872EC-B3A1-4E35-8C08-2123551F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10763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aecb3c50ed47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22CC9-59A0-4EC0-BF7C-0FF4765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末值：AutoPhaseNN val=3.70；UMamba hard val=6.13；UMamba soft/support val=7.01。</a:t>
            </a:r>
          </a:p>
        </p:txBody>
      </p:sp>
    </p:spTree>
    <p:extLst>
      <p:ext uri="{BB962C8B-B14F-4D97-AF65-F5344CB8AC3E}">
        <p14:creationId xmlns:p14="http://schemas.microsoft.com/office/powerpoint/2010/main" val="180827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8050B-D8AE-432F-9471-4A30300C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AutoPhaseNN 复现图：完整可视化结果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2495F-F80B-4D3F-B724-FF05F88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文件：autophasenn_training_pipeline/output/visualization.png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5559-BFB8-4C71-B6B3-E3C8430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c3342cfbd4d5f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7620000" cy="4191000"/>
          </a:xfrm>
          <a:prstGeom xmlns:a="http://schemas.openxmlformats.org/drawingml/2006/main" prst="roundRect">
            <a:avLst>
              <a:gd name="adj" fmla="val 1429"/>
            </a:avLst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0" y="1428750"/>
          <a:ext xmlns:a="http://schemas.openxmlformats.org/drawingml/2006/main" cx="2714625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285875"/>
              </a:tblGrid>
              <a:tr h="40821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Full val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3.70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Subset FT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5.09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Pearson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0.923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Amp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0.0199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Support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0.330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Phase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0.873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0BB2B-BBAD-433C-8549-6382FF25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结论：这组图可以作为 AutoPhaseNN 复现成功的主要证据。</a:t>
            </a:r>
          </a:p>
        </p:txBody>
      </p:sp>
    </p:spTree>
    <p:extLst>
      <p:ext uri="{BB962C8B-B14F-4D97-AF65-F5344CB8AC3E}">
        <p14:creationId xmlns:p14="http://schemas.microsoft.com/office/powerpoint/2010/main" val="679831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25009-01C5-451A-97E5-F280C41B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UMamba 原始硬阈值结果图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3E0D-3B6E-4917-B9B5-BFB9D58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当前仓库中对应 visualization_train_subset.png 为 0 字节，先保留图片位置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4493E-1683-4D1C-A0C3-4929475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C17C-A2B7-4D0C-AE7F-5742949D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D97706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D8973-8183-48D3-883B-A36D301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待补图：UMamba hard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F058-0FA1-4BDD-838E-F17E8EC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651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缺失文件：umamba_overfit100_l1_20260604_134304/visualization_train_subset.png 当前为 0 字节。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0" y="1428750"/>
          <a:ext xmlns:a="http://schemas.openxmlformats.org/drawingml/2006/main" cx="2714625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285875"/>
              </a:tblGrid>
              <a:tr h="40821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Val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6.13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Subset FT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6.10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Pearson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0.822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Amp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0.0255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Support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0.012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Phase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2.402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5EF9D-E3AA-4566-966E-3138E48A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结论：损失下降，但 support/phase 指标远弱于 AutoPhaseNN。</a:t>
            </a:r>
          </a:p>
        </p:txBody>
      </p:sp>
    </p:spTree>
    <p:extLst>
      <p:ext uri="{BB962C8B-B14F-4D97-AF65-F5344CB8AC3E}">
        <p14:creationId xmlns:p14="http://schemas.microsoft.com/office/powerpoint/2010/main" val="848778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98AE7-C721-4B9D-B67B-BBF9BD7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UMamba 可用完整图：实空间结构不理想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03969-2ECA-4C1B-939A-FA27050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文件：umamba_training_pipeline/output/visualization.png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B4E52-5E87-40A9-B5EA-752E6E4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e00db33d14851"/>
          <a:stretch xmlns:a="http://schemas.openxmlformats.org/drawingml/2006/main"/>
        </p:blipFill>
        <p:spPr>
          <a:xfrm xmlns:a="http://schemas.openxmlformats.org/drawingml/2006/main">
            <a:off x="1995055" y="1219200"/>
            <a:ext cx="4849091" cy="5334000"/>
          </a:xfrm>
          <a:prstGeom xmlns:a="http://schemas.openxmlformats.org/drawingml/2006/main" prst="roundRect">
            <a:avLst>
              <a:gd name="adj" fmla="val 1429"/>
            </a:avLst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0" y="1428750"/>
          <a:ext xmlns:a="http://schemas.openxmlformats.org/drawingml/2006/main" cx="2714625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285875"/>
              </a:tblGrid>
              <a:tr h="40821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soft/only-diff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FT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4.63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Rel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0.394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Pearson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0.980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Amp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0.0484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Support Dice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0.205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Phase 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1.037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75C66-F0A2-4950-87CC-6C0E9C5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虽然 FT 指标可以较好，但图中 amp/support 仍出现环状或错位结构。</a:t>
            </a:r>
          </a:p>
        </p:txBody>
      </p:sp>
    </p:spTree>
    <p:extLst>
      <p:ext uri="{BB962C8B-B14F-4D97-AF65-F5344CB8AC3E}">
        <p14:creationId xmlns:p14="http://schemas.microsoft.com/office/powerpoint/2010/main" val="200025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C1541-D840-47A1-A67E-59F9CF3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主要指标对比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BEEAC-52D5-473B-87CD-31C111F6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重点看 FT 指标和实空间指标是否一致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17528-BABD-40CE-B2C0-0A5AC002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47750" y="1428750"/>
          <a:ext xmlns:a="http://schemas.openxmlformats.org/drawingml/2006/main" cx="9525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476500"/>
                <a:gridCol w="2476500"/>
                <a:gridCol w="2571750"/>
              </a:tblGrid>
              <a:tr h="48985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AutoPhaseNN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UMamba hard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UMamba soft/only-diff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FT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5.09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6.10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4.63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Rel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0.429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0.523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0.394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Pearson 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0.923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0.822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0.980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Amp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0.0199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0.0255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0.0484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Support Dice 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0.330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0.012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0.205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Phase MAE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0.873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2.402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1.037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CC086-50F1-471C-A2BF-DE94C9D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简短结论：AutoPhaseNN 的图像恢复更符合实空间物理结构；UMamba 即使 FT/Pearson 指标较好，也可能恢复出不正确的 amp、phase、support。</a:t>
            </a:r>
          </a:p>
        </p:txBody>
      </p:sp>
    </p:spTree>
    <p:extLst>
      <p:ext uri="{BB962C8B-B14F-4D97-AF65-F5344CB8AC3E}">
        <p14:creationId xmlns:p14="http://schemas.microsoft.com/office/powerpoint/2010/main" val="734448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09E73-1CC9-4CDE-B4B0-61F1F1BE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还需要补的图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0F147-C304-4598-B41D-07F7A8A7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后续只要把图文件补到对应位置，就可以替换占位页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4AE8-4816-4C80-AD3C-875560C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238250" y="1714500"/>
          <a:ext xmlns:a="http://schemas.openxmlformats.org/drawingml/2006/main" cx="95250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2571750"/>
                <a:gridCol w="3810000"/>
              </a:tblGrid>
              <a:tr h="698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缺图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建议输出文件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 hard threshold 完整可视化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现有文件 0 字节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umamba_overfit100_l1_.../visualization_train_subset.png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 soft threshold 独立完整可视化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仓库中未看到单独成品图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umamba_soft_threshold_.../visualization.png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D769B-079E-43E8-B498-5DB3462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我已经保留了图片位置；下一次补图后只需要替换对应 slide 的图片，不需要重写汇报结构。</a:t>
            </a:r>
          </a:p>
        </p:txBody>
      </p:sp>
    </p:spTree>
    <p:extLst>
      <p:ext uri="{BB962C8B-B14F-4D97-AF65-F5344CB8AC3E}">
        <p14:creationId xmlns:p14="http://schemas.microsoft.com/office/powerpoint/2010/main" val="990065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2026-06-15T08:51:44.8940000Z</dcterms:created>
  <dcterms:modified xsi:type="dcterms:W3CDTF">2026-06-15T08:51:44.8940000Z</dcterms:modified>
</coreProperties>
</file>