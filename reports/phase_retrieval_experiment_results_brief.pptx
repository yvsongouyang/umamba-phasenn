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874b3a2ee749b9" /><Relationship Type="http://schemas.openxmlformats.org/officeDocument/2006/relationships/extended-properties" Target="/docProps/app.xml" Id="Rebe96bb75c3d4a58" /><Relationship Type="http://schemas.openxmlformats.org/officeDocument/2006/relationships/officeDocument" Target="/ppt/presentation.xml" Id="Rba7d4585b7d744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d4a57a865e4561"/>
  </p:sldMasterIdLst>
  <p:notesMasterIdLst>
    <p:notesMasterId xmlns:r="http://schemas.openxmlformats.org/officeDocument/2006/relationships" r:id="R123befc66ccd4215"/>
  </p:notesMasterIdLst>
  <p:sldIdLst>
    <p:sldId xmlns:r="http://schemas.openxmlformats.org/officeDocument/2006/relationships" id="256" r:id="R003492157ff64579"/>
    <p:sldId xmlns:r="http://schemas.openxmlformats.org/officeDocument/2006/relationships" id="257" r:id="R65a18b1214014576"/>
    <p:sldId xmlns:r="http://schemas.openxmlformats.org/officeDocument/2006/relationships" id="258" r:id="Rf96720ec0af849ca"/>
    <p:sldId xmlns:r="http://schemas.openxmlformats.org/officeDocument/2006/relationships" id="259" r:id="R318430fab3014d09"/>
    <p:sldId xmlns:r="http://schemas.openxmlformats.org/officeDocument/2006/relationships" id="260" r:id="R7737aad955ce405e"/>
    <p:sldId xmlns:r="http://schemas.openxmlformats.org/officeDocument/2006/relationships" id="261" r:id="Re1be7c18c99c4e15"/>
    <p:sldId xmlns:r="http://schemas.openxmlformats.org/officeDocument/2006/relationships" id="262" r:id="R0e49f1a798c5494b"/>
    <p:sldId xmlns:r="http://schemas.openxmlformats.org/officeDocument/2006/relationships" id="263" r:id="Rae2e8fd0ac4a466d"/>
    <p:sldId xmlns:r="http://schemas.openxmlformats.org/officeDocument/2006/relationships" id="264" r:id="Rf7677b21cf80446a"/>
    <p:sldId xmlns:r="http://schemas.openxmlformats.org/officeDocument/2006/relationships" id="265" r:id="Ra82ec82784de4c38"/>
    <p:sldId xmlns:r="http://schemas.openxmlformats.org/officeDocument/2006/relationships" id="266" r:id="R71f564b51e4546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e23a6ed4e64cea" /><Relationship Type="http://schemas.openxmlformats.org/officeDocument/2006/relationships/slideMaster" Target="/ppt/slideMasters/slideMaster1.xml" Id="R72d4a57a865e4561" /><Relationship Type="http://schemas.openxmlformats.org/officeDocument/2006/relationships/notesMaster" Target="/ppt/notesMasters/notesMaster1.xml" Id="R123befc66ccd4215" /><Relationship Type="http://schemas.openxmlformats.org/officeDocument/2006/relationships/presProps" Target="/ppt/presProps.xml" Id="R4b6fdbd3ccbd40a1" /><Relationship Type="http://schemas.openxmlformats.org/officeDocument/2006/relationships/tableStyles" Target="/ppt/tableStyles.xml" Id="Rfddbb1d6bb00441d" /><Relationship Type="http://schemas.openxmlformats.org/officeDocument/2006/relationships/slide" Target="/ppt/slides/slide1.xml" Id="R003492157ff64579" /><Relationship Type="http://schemas.openxmlformats.org/officeDocument/2006/relationships/slide" Target="/ppt/slides/slide2.xml" Id="R65a18b1214014576" /><Relationship Type="http://schemas.openxmlformats.org/officeDocument/2006/relationships/slide" Target="/ppt/slides/slide3.xml" Id="Rf96720ec0af849ca" /><Relationship Type="http://schemas.openxmlformats.org/officeDocument/2006/relationships/slide" Target="/ppt/slides/slide4.xml" Id="R318430fab3014d09" /><Relationship Type="http://schemas.openxmlformats.org/officeDocument/2006/relationships/slide" Target="/ppt/slides/slide5.xml" Id="R7737aad955ce405e" /><Relationship Type="http://schemas.openxmlformats.org/officeDocument/2006/relationships/slide" Target="/ppt/slides/slide6.xml" Id="Re1be7c18c99c4e15" /><Relationship Type="http://schemas.openxmlformats.org/officeDocument/2006/relationships/slide" Target="/ppt/slides/slide7.xml" Id="R0e49f1a798c5494b" /><Relationship Type="http://schemas.openxmlformats.org/officeDocument/2006/relationships/slide" Target="/ppt/slides/slide8.xml" Id="Rae2e8fd0ac4a466d" /><Relationship Type="http://schemas.openxmlformats.org/officeDocument/2006/relationships/slide" Target="/ppt/slides/slide9.xml" Id="Rf7677b21cf80446a" /><Relationship Type="http://schemas.openxmlformats.org/officeDocument/2006/relationships/slide" Target="/ppt/slides/slide10.xml" Id="Ra82ec82784de4c38" /><Relationship Type="http://schemas.openxmlformats.org/officeDocument/2006/relationships/slide" Target="/ppt/slides/slide11.xml" Id="R71f564b51e4546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bc65ae85f64f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abb1f16dfb44da8" /><Relationship Type="http://schemas.openxmlformats.org/officeDocument/2006/relationships/notesMaster" Target="/ppt/notesMasters/notesMaster1.xml" Id="Rf8a7d114eed34e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902943bd6004a0f" /><Relationship Type="http://schemas.openxmlformats.org/officeDocument/2006/relationships/notesMaster" Target="/ppt/notesMasters/notesMaster1.xml" Id="R206285589f3a41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88a230a530b4708" /><Relationship Type="http://schemas.openxmlformats.org/officeDocument/2006/relationships/notesMaster" Target="/ppt/notesMasters/notesMaster1.xml" Id="R35203b0d3d9d49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598d0c036b4273" /><Relationship Type="http://schemas.openxmlformats.org/officeDocument/2006/relationships/notesMaster" Target="/ppt/notesMasters/notesMaster1.xml" Id="Rddce8d520e8f4a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b8b5aed8e9f42c2" /><Relationship Type="http://schemas.openxmlformats.org/officeDocument/2006/relationships/notesMaster" Target="/ppt/notesMasters/notesMaster1.xml" Id="Rd53d4a7bf2e045a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2e6c9879c7471d" /><Relationship Type="http://schemas.openxmlformats.org/officeDocument/2006/relationships/notesMaster" Target="/ppt/notesMasters/notesMaster1.xml" Id="R01d2eadd0b114a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d93cdeb8e564c4e" /><Relationship Type="http://schemas.openxmlformats.org/officeDocument/2006/relationships/notesMaster" Target="/ppt/notesMasters/notesMaster1.xml" Id="R90ff9a702ac044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7138bfe57e4b86" /><Relationship Type="http://schemas.openxmlformats.org/officeDocument/2006/relationships/notesMaster" Target="/ppt/notesMasters/notesMaster1.xml" Id="Rdb1f7a2a6b1f47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551567e1444d39" /><Relationship Type="http://schemas.openxmlformats.org/officeDocument/2006/relationships/notesMaster" Target="/ppt/notesMasters/notesMaster1.xml" Id="R206e96f4cf3c4f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cb46e26dee4b22" /><Relationship Type="http://schemas.openxmlformats.org/officeDocument/2006/relationships/notesMaster" Target="/ppt/notesMasters/notesMaster1.xml" Id="Ra134a0f5916246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8a4d2ee85394bcc" /><Relationship Type="http://schemas.openxmlformats.org/officeDocument/2006/relationships/notesMaster" Target="/ppt/notesMasters/notesMaster1.xml" Id="R544e4a79809c4d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68746b25e74d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dc524f28484e4d" /><Relationship Type="http://schemas.openxmlformats.org/officeDocument/2006/relationships/slideLayout" Target="/ppt/slideLayouts/slideLayout1.xml" Id="R3cb455cd1e1d45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455cd1e1d45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b3935b4214d98" /><Relationship Type="http://schemas.openxmlformats.org/officeDocument/2006/relationships/notesSlide" Target="/ppt/notesSlides/notesSlide1.xml" Id="Rd6c2b5e2d02741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c2523198a4fd8" /><Relationship Type="http://schemas.openxmlformats.org/officeDocument/2006/relationships/notesSlide" Target="/ppt/notesSlides/notesSlide2.xml" Id="R3bae4d7faa4f444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bad1029dee493a" /><Relationship Type="http://schemas.openxmlformats.org/officeDocument/2006/relationships/notesSlide" Target="/ppt/notesSlides/notesSlide3.xml" Id="R850d93a974c74a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5762861044cc0" /><Relationship Type="http://schemas.openxmlformats.org/officeDocument/2006/relationships/notesSlide" Target="/ppt/notesSlides/notesSlide4.xml" Id="Rc74fecfa89df45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ba78c0adb4d57" /><Relationship Type="http://schemas.openxmlformats.org/officeDocument/2006/relationships/notesSlide" Target="/ppt/notesSlides/notesSlide5.xml" Id="R0a65d00d282447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65e4421314896" /><Relationship Type="http://schemas.openxmlformats.org/officeDocument/2006/relationships/chart" Target="/ppt/slides/charts/chart1.xml" Id="R269258be9aff4698" /><Relationship Type="http://schemas.openxmlformats.org/officeDocument/2006/relationships/notesSlide" Target="/ppt/notesSlides/notesSlide6.xml" Id="R663e43e860b04dd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3abde8e33460c" /><Relationship Type="http://schemas.openxmlformats.org/officeDocument/2006/relationships/image" Target="/ppt/media/image.png" Id="R8f95a1934f444906" /><Relationship Type="http://schemas.openxmlformats.org/officeDocument/2006/relationships/notesSlide" Target="/ppt/notesSlides/notesSlide7.xml" Id="R8a2a4cdf22f040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e8ba0809b4ece" /><Relationship Type="http://schemas.openxmlformats.org/officeDocument/2006/relationships/notesSlide" Target="/ppt/notesSlides/notesSlide8.xml" Id="R9b9e5f6eae8446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91aed9d8749da" /><Relationship Type="http://schemas.openxmlformats.org/officeDocument/2006/relationships/image" Target="/ppt/media/image2.png" Id="R37887bd78f774ecb" /><Relationship Type="http://schemas.openxmlformats.org/officeDocument/2006/relationships/notesSlide" Target="/ppt/notesSlides/notesSlide9.xml" Id="R373a0b08c74c47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7fc55c6374b55" /><Relationship Type="http://schemas.openxmlformats.org/officeDocument/2006/relationships/notesSlide" Target="/ppt/notesSlides/notesSlide10.xml" Id="R0cd19309931f4e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dfbc66b88b4e0b" /><Relationship Type="http://schemas.openxmlformats.org/officeDocument/2006/relationships/notesSlide" Target="/ppt/notesSlides/notesSlide11.xml" Id="R11c5944c496d43f7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lineChart>
        <c:grouping val="standard"/>
        <c:ser>
          <c:idx val="0"/>
          <c:order val="0"/>
          <c:tx>
            <c:v>AutoPhaseNN val L1</c:v>
          </c:tx>
          <c:spPr>
            <a:ln xmlns:a="http://schemas.openxmlformats.org/drawingml/2006/main" w="28575">
              <a:solidFill>
                <a:srgbClr val="0F766E"/>
              </a:solidFill>
              <a:prstDash val="solid"/>
            </a:ln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numLit>
              <c:formatCode>General</c:formatCode>
              <c:ptCount val="12"/>
              <c:pt idx="0">
                <c:v>1</c:v>
              </c:pt>
              <c:pt idx="1">
                <c:v>10</c:v>
              </c:pt>
              <c:pt idx="2">
                <c:v>19</c:v>
              </c:pt>
              <c:pt idx="3">
                <c:v>28</c:v>
              </c:pt>
              <c:pt idx="4">
                <c:v>37</c:v>
              </c:pt>
              <c:pt idx="5">
                <c:v>46</c:v>
              </c:pt>
              <c:pt idx="6">
                <c:v>55</c:v>
              </c:pt>
              <c:pt idx="7">
                <c:v>64</c:v>
              </c:pt>
              <c:pt idx="8">
                <c:v>73</c:v>
              </c:pt>
              <c:pt idx="9">
                <c:v>82</c:v>
              </c:pt>
              <c:pt idx="10">
                <c:v>91</c:v>
              </c:pt>
              <c:pt idx="11">
                <c:v>100</c:v>
              </c:pt>
            </c:numLit>
          </c:cat>
          <c:val>
            <c:numLit>
              <c:formatCode>General</c:formatCode>
              <c:ptCount val="12"/>
              <c:pt idx="0">
                <c:v>6.5244</c:v>
              </c:pt>
              <c:pt idx="1">
                <c:v>4.9689</c:v>
              </c:pt>
              <c:pt idx="2">
                <c:v>4.2693</c:v>
              </c:pt>
              <c:pt idx="3">
                <c:v>4.0573</c:v>
              </c:pt>
              <c:pt idx="4">
                <c:v>3.9856</c:v>
              </c:pt>
              <c:pt idx="5">
                <c:v>3.8865</c:v>
              </c:pt>
              <c:pt idx="6">
                <c:v>3.7563</c:v>
              </c:pt>
              <c:pt idx="7">
                <c:v>3.7539</c:v>
              </c:pt>
              <c:pt idx="8">
                <c:v>3.7065</c:v>
              </c:pt>
              <c:pt idx="9">
                <c:v>3.7025</c:v>
              </c:pt>
              <c:pt idx="10">
                <c:v>3.6975</c:v>
              </c:pt>
              <c:pt idx="11">
                <c:v>3.7</c:v>
              </c:pt>
            </c:numLit>
          </c:val>
          <c:smooth val="0"/>
        </c:ser>
        <c:ser>
          <c:idx val="1"/>
          <c:order val="1"/>
          <c:tx>
            <c:v>UMamba hard val L1</c:v>
          </c:tx>
          <c:spPr>
            <a:ln xmlns:a="http://schemas.openxmlformats.org/drawingml/2006/main" w="28575">
              <a:solidFill>
                <a:srgbClr val="D97706"/>
              </a:solidFill>
              <a:prstDash val="solid"/>
            </a:ln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numLit>
              <c:formatCode>General</c:formatCode>
              <c:ptCount val="12"/>
              <c:pt idx="0">
                <c:v>1</c:v>
              </c:pt>
              <c:pt idx="1">
                <c:v>10</c:v>
              </c:pt>
              <c:pt idx="2">
                <c:v>19</c:v>
              </c:pt>
              <c:pt idx="3">
                <c:v>28</c:v>
              </c:pt>
              <c:pt idx="4">
                <c:v>37</c:v>
              </c:pt>
              <c:pt idx="5">
                <c:v>46</c:v>
              </c:pt>
              <c:pt idx="6">
                <c:v>55</c:v>
              </c:pt>
              <c:pt idx="7">
                <c:v>64</c:v>
              </c:pt>
              <c:pt idx="8">
                <c:v>73</c:v>
              </c:pt>
              <c:pt idx="9">
                <c:v>82</c:v>
              </c:pt>
              <c:pt idx="10">
                <c:v>91</c:v>
              </c:pt>
              <c:pt idx="11">
                <c:v>100</c:v>
              </c:pt>
            </c:numLit>
          </c:cat>
          <c:val>
            <c:numLit>
              <c:formatCode>General</c:formatCode>
              <c:ptCount val="12"/>
              <c:pt idx="0">
                <c:v>8.7299</c:v>
              </c:pt>
              <c:pt idx="1">
                <c:v>8.267</c:v>
              </c:pt>
              <c:pt idx="2">
                <c:v>7.6335</c:v>
              </c:pt>
              <c:pt idx="3">
                <c:v>7.0072</c:v>
              </c:pt>
              <c:pt idx="4">
                <c:v>6.6558</c:v>
              </c:pt>
              <c:pt idx="5">
                <c:v>6.4828</c:v>
              </c:pt>
              <c:pt idx="6">
                <c:v>6.3344</c:v>
              </c:pt>
              <c:pt idx="7">
                <c:v>6.2196</c:v>
              </c:pt>
              <c:pt idx="8">
                <c:v>6.1839</c:v>
              </c:pt>
              <c:pt idx="9">
                <c:v>6.1602</c:v>
              </c:pt>
              <c:pt idx="10">
                <c:v>6.1435</c:v>
              </c:pt>
              <c:pt idx="11">
                <c:v>6.1322</c:v>
              </c:pt>
            </c:numLit>
          </c:val>
          <c:smooth val="0"/>
        </c:ser>
        <c:ser>
          <c:idx val="2"/>
          <c:order val="2"/>
          <c:tx>
            <c:v>UMamba soft/support val L1</c:v>
          </c:tx>
          <c:spPr>
            <a:ln xmlns:a="http://schemas.openxmlformats.org/drawingml/2006/main" w="28575">
              <a:solidFill>
                <a:srgbClr val="B91C1C"/>
              </a:solidFill>
              <a:prstDash val="solid"/>
            </a:ln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numLit>
              <c:formatCode>General</c:formatCode>
              <c:ptCount val="12"/>
              <c:pt idx="0">
                <c:v>1</c:v>
              </c:pt>
              <c:pt idx="1">
                <c:v>10</c:v>
              </c:pt>
              <c:pt idx="2">
                <c:v>19</c:v>
              </c:pt>
              <c:pt idx="3">
                <c:v>28</c:v>
              </c:pt>
              <c:pt idx="4">
                <c:v>37</c:v>
              </c:pt>
              <c:pt idx="5">
                <c:v>46</c:v>
              </c:pt>
              <c:pt idx="6">
                <c:v>55</c:v>
              </c:pt>
              <c:pt idx="7">
                <c:v>64</c:v>
              </c:pt>
              <c:pt idx="8">
                <c:v>73</c:v>
              </c:pt>
              <c:pt idx="9">
                <c:v>82</c:v>
              </c:pt>
              <c:pt idx="10">
                <c:v>91</c:v>
              </c:pt>
              <c:pt idx="11">
                <c:v>100</c:v>
              </c:pt>
            </c:numLit>
          </c:cat>
          <c:val>
            <c:numLit>
              <c:formatCode>General</c:formatCode>
              <c:ptCount val="12"/>
              <c:pt idx="0">
                <c:v>9.8407</c:v>
              </c:pt>
              <c:pt idx="1">
                <c:v>8.6953</c:v>
              </c:pt>
              <c:pt idx="2">
                <c:v>8.5862</c:v>
              </c:pt>
              <c:pt idx="3">
                <c:v>7.9097</c:v>
              </c:pt>
              <c:pt idx="4">
                <c:v>7.8746</c:v>
              </c:pt>
              <c:pt idx="5">
                <c:v>7.6709</c:v>
              </c:pt>
              <c:pt idx="6">
                <c:v>7.3503</c:v>
              </c:pt>
              <c:pt idx="7">
                <c:v>7.1919</c:v>
              </c:pt>
              <c:pt idx="8">
                <c:v>7.1468</c:v>
              </c:pt>
              <c:pt idx="9">
                <c:v>7.0519</c:v>
              </c:pt>
              <c:pt idx="10">
                <c:v>7.0249</c:v>
              </c:pt>
              <c:pt idx="11">
                <c:v>7.0094</c:v>
              </c:pt>
            </c:numLit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75569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475569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75">
              <a:solidFill>
                <a:srgbClr val="475569"/>
              </a:solidFill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569F3E-165E-4FBF-98C2-6C3C1486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AutoPhaseNN 是什么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D17765-ABB5-4ABE-9968-AF7EBC24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用于 3D 相位恢复：从衍射强度 diff 预测实空间 amp / phase，再用物理前向模型回到衍射域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FD405-C5B5-46E8-960C-CAF43A44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AF5826-2C80-41FC-BDA1-602E3E4D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BB70BE-D9A5-4C8A-829F-8FE0422A8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输入 diff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9A3F4-39E0-4AD7-A493-7DC0FA8D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52625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289D8-23BF-4E90-B2E1-008478A3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AutoPhaseNN</a:t>
            </a:r>
          </a:p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CNN 编码器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D39AF-DBAF-48AB-BCAE-A78BA7B5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952625"/>
            <a:ext cx="1714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3D139-8C4C-44DA-B525-BB3EAA77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95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双解码器</a:t>
            </a:r>
          </a:p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amp / phase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C906D-E2D1-47B0-A32A-2E9976DD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952625"/>
            <a:ext cx="1714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3EFF66-CFF4-4882-8041-BA3D9B7B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955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物理后处理</a:t>
            </a:r>
          </a:p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FFT farfield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6B9C6B-724B-4FD4-9EFF-5BD4CE8B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952625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F98FD-37E0-41C6-B681-6A873DEE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955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预测 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83F388-6368-4EFE-AEB9-11F8B601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9325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0567B1-696A-4F8A-A89E-A63DF147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19325"/>
            <a:ext cx="5715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CC667D-A65B-43CE-8176-6092B9665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219325"/>
            <a:ext cx="5715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378945-2B77-48C5-9226-1DAED213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19325"/>
            <a:ext cx="5524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876300" y="3286125"/>
          <a:ext xmlns:a="http://schemas.openxmlformats.org/drawingml/2006/main" cx="10287000" cy="2190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00250"/>
                <a:gridCol w="8286750"/>
              </a:tblGrid>
              <a:tr h="43815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模块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作用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输入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3D 衍射强度图 diff，shape 通常为 64³</a:t>
                      </a:r>
                    </a:p>
                  </a:txBody>
                  <a:tcPr marL="91440" marR="91440" marT="45720" marB="45720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网络主体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3D CNN encoder-decoder；两个输出头分别预测 amplitude 和 phase</a:t>
                      </a:r>
                    </a:p>
                  </a:txBody>
                  <a:tcPr marL="91440" marR="91440" marT="45720" marB="45720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输出限制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经 Sigmoid 限制到 0-1；phase 经 Tanh 后乘 π 限制到 [-π, π]</a:t>
                      </a:r>
                    </a:p>
                  </a:txBody>
                  <a:tcPr marL="91440" marR="91440" marT="45720" marB="45720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物理层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用 support mask 形成复数物体，再 FFT 得到 predicted farfield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53362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E27F15-4326-4D88-83EC-01D24C37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AutoPhaseNN 的训练逻辑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52A52-36CC-40AE-98CA-01B0314A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当前复现主要使用衍射域 L1：让模型生成的 farfield 接近输入 diff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51685-E205-4251-8B72-85963104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01A50-6C28-4858-91BA-59E57FD6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114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A02A55-D42D-4FC9-B7DB-E0DDF41D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573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diff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18330-BD30-459F-99F9-BF1BE9E4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1450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8BA90C-096B-49E1-A207-90E18055F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57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model(diff)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E6CFCA-759F-4A05-BC9D-72A574CC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14500"/>
            <a:ext cx="1619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3442E-229A-46B3-AAFE-44FCBF527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573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pred_amp</a:t>
            </a:r>
          </a:p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pred_phase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82D114-71F8-43A4-811B-905A9759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14500"/>
            <a:ext cx="14287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2F5C5C-5101-47A2-AFED-5BABDAC1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857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FFT 后处理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0EEC25-E330-4785-9B65-D61A8F73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14500"/>
            <a:ext cx="1381125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99F6E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23880-875B-4008-8202-395A7CC1B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857375"/>
            <a:ext cx="1190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172A"/>
                </a:solidFill>
              </a:defRPr>
            </a:pPr>
            <a:r>
              <a:rPr sz="1125" b="1">
                <a:solidFill>
                  <a:srgbClr val="0F172A"/>
                </a:solidFill>
              </a:rPr>
              <a:t>pred_diff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7AE61-1559-4CD5-B367-EBC580586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981200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B22516-CD38-4C5C-8A5C-4A6407FE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981200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106D0-EB1D-4637-B2BA-7E00CD84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81200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FE5963-22AD-4375-A70D-5166511C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81200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10FAC2-B377-4B50-83F3-462AF75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57500"/>
            <a:ext cx="4762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594A40-DE5E-4315-9327-546425DD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05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训练主损失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AB47B4-40F9-4245-9B02-23FAD77F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400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Loss = L1(diff, pred_diff)</a:t>
            </a:r>
          </a:p>
          <a:p xmlns:a="http://schemas.openxmlformats.org/drawingml/2006/main">
            <a:pPr>
              <a:defRPr sz="1650">
                <a:solidFill>
                  <a:srgbClr val="0F172A"/>
                </a:solidFill>
              </a:defRPr>
            </a:pPr>
            <a:r>
              <a:rPr sz="1650">
                <a:solidFill>
                  <a:srgbClr val="0F172A"/>
                </a:solidFill>
              </a:rPr>
              <a:t>也就是只要求预测衍射图和输入衍射图一致。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3713FB-2F09-49BA-A507-14CE5D98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7500"/>
            <a:ext cx="4762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39F1B6-AA31-43C0-9AD8-16BD5A9B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1051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97706"/>
                </a:solidFill>
              </a:defRPr>
            </a:pPr>
            <a:r>
              <a:rPr sz="1650" b="1">
                <a:solidFill>
                  <a:srgbClr val="D97706"/>
                </a:solidFill>
              </a:rPr>
              <a:t>监控 / 可选项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BC4C71-3293-45CF-848E-79E305720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5814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0F172A"/>
                </a:solidFill>
              </a:defRPr>
            </a:pPr>
            <a:r>
              <a:rPr sz="1425">
                <a:solidFill>
                  <a:srgbClr val="0F172A"/>
                </a:solidFill>
              </a:rPr>
              <a:t>代码中会同时计算 amp、phase、support 等项，主要用于诊断；只有打开对应权重/范围时才进入总 loss。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025ACF-3E58-45D1-96A2-B585573B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8637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91C1C"/>
                </a:solidFill>
              </a:defRPr>
            </a:pPr>
            <a:r>
              <a:rPr sz="1800" b="1">
                <a:solidFill>
                  <a:srgbClr val="B91C1C"/>
                </a:solidFill>
              </a:rPr>
              <a:t>因此如果只看 diff L1，模型可能学到衍射域接近但实空间不正确的解。</a:t>
            </a:r>
          </a:p>
        </p:txBody>
      </p:sp>
    </p:spTree>
    <p:extLst>
      <p:ext uri="{BB962C8B-B14F-4D97-AF65-F5344CB8AC3E}">
        <p14:creationId xmlns:p14="http://schemas.microsoft.com/office/powerpoint/2010/main" val="822216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9EBE07-5AD2-4872-B327-E4CFA051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AutoPhaseNN 最后的物理后处理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4C384C-7342-4ACC-8934-2F3B511F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这是本任务最关键的部分：网络输出不是最终答案，必须经过 support + FFT 变成 pred_diff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8E7F71-0EF7-4BFA-85B9-61BFF56F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1428750"/>
          <a:ext xmlns:a="http://schemas.openxmlformats.org/drawingml/2006/main" cx="10858500" cy="3429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619250"/>
                <a:gridCol w="4762500"/>
                <a:gridCol w="4476750"/>
              </a:tblGrid>
              <a:tr h="5715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步骤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公式 / 操作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含义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1. 输出约束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= sigmoid(decoder1), phi = π · tanh(decoder2)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在 0-1；phase 在 [-π, π]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2. support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support = 1[amp ≥ T], T=0.1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硬阈值，得到 0/1 物体支撑区域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3. complex object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obj = amp · (cos(phi) + i sin(phi))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由 amp 和 phase 合成复数物体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4. mask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masked_obj = obj · support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support 外强制为 0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5. farfield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abs(fftshift(fftn(ifftshift(masked_obj))))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得到预测衍射强度 pred_diff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DCD84A-591E-480F-BFC8-1F6EE308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33400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这里的硬 support 和空间结构先验，是 AutoPhaseNN 能恢复合理实空间结果的重要原因之一。</a:t>
            </a:r>
          </a:p>
        </p:txBody>
      </p:sp>
    </p:spTree>
    <p:extLst>
      <p:ext uri="{BB962C8B-B14F-4D97-AF65-F5344CB8AC3E}">
        <p14:creationId xmlns:p14="http://schemas.microsoft.com/office/powerpoint/2010/main" val="7710652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C26986-1981-4190-BA38-BBFB4081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UMamba 替换了哪里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20CC2-BEBA-4D66-A290-487FD9DF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实验目标是尽量保持数据、loss、后处理一致，只把网络主体换成 UMamba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4AEA6-ADC6-4EB7-A927-33369100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762000" y="1381125"/>
          <a:ext xmlns:a="http://schemas.openxmlformats.org/drawingml/2006/main" cx="10668000" cy="37338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809750"/>
                <a:gridCol w="4095750"/>
                <a:gridCol w="4762500"/>
              </a:tblGrid>
              <a:tr h="5334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项目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AutoPhaseNN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UMamba 替换版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输入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diff 3D volume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diff 3D volume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网络主体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3D CNN encoder + 两个 decoder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UMamba encoder + UNet-style decoder1/decoder2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输出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Sigmoid(decoder1)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Sigmoid(decoder1)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phase 输出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π · Tanh(decoder2)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π · Tanh(decoder2) 或 atan 变体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后处理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hard support + complex object + FFT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尽量保持同一套后处理</a:t>
                      </a:r>
                    </a:p>
                  </a:txBody>
                  <a:tcPr marL="91440" marR="91440" marT="45720" marB="45720"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本轮关注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复现基线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看换模型后是否仍能恢复实空间 amp/phase/support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FAA41-F5CB-4406-AFC4-AD947E5F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62600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所以对比重点不是“能不能降低 diff loss”，而是替换 UMamba 后，amp / phase / support 是否仍符合物理空间结构。</a:t>
            </a:r>
          </a:p>
        </p:txBody>
      </p:sp>
    </p:spTree>
    <p:extLst>
      <p:ext uri="{BB962C8B-B14F-4D97-AF65-F5344CB8AC3E}">
        <p14:creationId xmlns:p14="http://schemas.microsoft.com/office/powerpoint/2010/main" val="194245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2DA298-B3C9-4C5D-A5F7-D7B60AE2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AutoPhaseNN 复现与 UMamba 替换实验结果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4C9797-9FD5-4408-9AD2-68AEE670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简洁版：只展示关键曲线、完整可视化图和主要指标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608318-9B4D-43EF-BE7E-0A42C4E6B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0DA5CB-5BF7-4949-9E4B-C1ADDBCD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223837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942CF3-F036-4DB8-81ED-0EA77C27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AutoPhaseNN full val L1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E5E1A-8BA9-43E5-BE57-29E273CE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3.70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0E40A-F727-4104-91B4-516167AE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223837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AD2D4F-7247-4612-B128-A32AD76E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7335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UMamba hard val L1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3A7BA1-48E5-476F-BB14-67918B5BA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19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6.13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905453-E6D6-45DE-A58E-2E2BBA99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23837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EFC371-23C5-4E56-B7F5-58537928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UMamba soft val L1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F3164-2F94-44D9-B38F-7B921C08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19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B91C1C"/>
                </a:solidFill>
              </a:defRPr>
            </a:pPr>
            <a:r>
              <a:rPr sz="1800" b="1">
                <a:solidFill>
                  <a:srgbClr val="B91C1C"/>
                </a:solidFill>
              </a:rPr>
              <a:t>7.01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5F33F-A0FF-447A-8496-B83CD4A8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619250"/>
            <a:ext cx="223837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FF59EF-8017-43F2-BF3E-4C5B36E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335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475569"/>
                </a:solidFill>
              </a:defRPr>
            </a:pPr>
            <a:r>
              <a:rPr sz="900" b="1">
                <a:solidFill>
                  <a:srgbClr val="475569"/>
                </a:solidFill>
              </a:rPr>
              <a:t>Soft FT Pearson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C182D9-0348-474C-970F-A80EDB07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19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0.980</a:t>
            </a:r>
          </a:p>
        </p:txBody>
      </p:sp>
      <p:graphicFrame>
        <p:nvGraphicFramePr>
          <p:cNvPr id="33" name=""/>
          <p:cNvGraphicFramePr/>
          <p:nvPr/>
        </p:nvGraphicFramePr>
        <p:xfrm>
          <a:off xmlns:a="http://schemas.openxmlformats.org/drawingml/2006/main" x="838200" y="3143250"/>
          <a:ext xmlns:a="http://schemas.openxmlformats.org/drawingml/2006/main" cx="10287000" cy="20002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00250"/>
                <a:gridCol w="2952750"/>
                <a:gridCol w="5334000"/>
              </a:tblGrid>
              <a:tr h="50006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实验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训练设置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当前观察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AutoPhaseNN 复现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full set / L1 / hard support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可视化中 amp、phase、support 基本在中心目标区域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UMamba 原始硬阈值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100 samples / 400 epoch /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loss 可下降，但实空间 support/phase 指标很差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UMamba 软阈值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soft support / only-diff 指标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FT 指标可以较好，但实空间图仍需补充独立可视化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CCCDA9-9999-4FDD-A49A-A7CD4D07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475569"/>
                </a:solidFill>
              </a:defRPr>
            </a:pPr>
            <a:r>
              <a:rPr sz="1125">
                <a:solidFill>
                  <a:srgbClr val="475569"/>
                </a:solidFill>
              </a:rPr>
              <a:t>图像说明：本版 PPT 不裁剪图片，直接放完整结果图；当前仓库缺少一张非空的 UMamba hard/soft 独立可视化图，已在对应页留位。</a:t>
            </a:r>
          </a:p>
        </p:txBody>
      </p:sp>
    </p:spTree>
    <p:extLst>
      <p:ext uri="{BB962C8B-B14F-4D97-AF65-F5344CB8AC3E}">
        <p14:creationId xmlns:p14="http://schemas.microsoft.com/office/powerpoint/2010/main" val="8798707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B1BDA4-960A-4BA7-A45D-DF5EDD6D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训练损失下降曲线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83973D-BE7D-4B27-ACD6-7D2F4E99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同图展示 AutoPhaseNN、UMamba hard、UMamba soft/support run 的 loss 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9E831E-6B5F-4556-8BF6-FAA4B7DE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1076325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9258be9aff4698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213F5F-E213-4C38-8468-BB467596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0F172A"/>
                </a:solidFill>
              </a:defRPr>
            </a:pPr>
            <a:r>
              <a:rPr sz="1275">
                <a:solidFill>
                  <a:srgbClr val="0F172A"/>
                </a:solidFill>
              </a:rPr>
              <a:t>末值：AutoPhaseNN val=3.70；UMamba hard val=6.13；UMamba soft/support val=7.01。</a:t>
            </a:r>
          </a:p>
        </p:txBody>
      </p:sp>
    </p:spTree>
    <p:extLst>
      <p:ext uri="{BB962C8B-B14F-4D97-AF65-F5344CB8AC3E}">
        <p14:creationId xmlns:p14="http://schemas.microsoft.com/office/powerpoint/2010/main" val="9563212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9DDBCB-7F63-49C4-8086-4CA3FA8C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AutoPhaseNN 复现图：完整可视化结果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8BE73-0C2D-449A-A578-BF91A432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文件：autophasenn_training_pipeline/output/visualization.png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904EE2-4355-4BBB-9151-77F7E00F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5a1934f444906"/>
          <a:stretch xmlns:a="http://schemas.openxmlformats.org/drawingml/2006/main"/>
        </p:blipFill>
        <p:spPr>
          <a:xfrm xmlns:a="http://schemas.openxmlformats.org/drawingml/2006/main">
            <a:off x="609600" y="1790700"/>
            <a:ext cx="7620000" cy="4191000"/>
          </a:xfrm>
          <a:prstGeom xmlns:a="http://schemas.openxmlformats.org/drawingml/2006/main" prst="roundRect">
            <a:avLst>
              <a:gd name="adj" fmla="val 1429"/>
            </a:avLst>
          </a:prstGeom>
        </p:spPr>
      </p:pic>
      <p:graphicFrame>
        <p:nvGraphicFramePr>
          <p:cNvPr id="11" name=""/>
          <p:cNvGraphicFramePr/>
          <p:nvPr/>
        </p:nvGraphicFramePr>
        <p:xfrm>
          <a:off xmlns:a="http://schemas.openxmlformats.org/drawingml/2006/main" x="8572500" y="1428750"/>
          <a:ext xmlns:a="http://schemas.openxmlformats.org/drawingml/2006/main" cx="2714625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1285875"/>
              </a:tblGrid>
              <a:tr h="40821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数值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Full val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3.70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Subset FT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5.09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Pearson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0.923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0.0199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Support Dice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0.330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Phase MAE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0.873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70641-61AD-4EFB-9AD9-7E5F68BE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714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结论：这组图可以作为 AutoPhaseNN 复现成功的主要证据。</a:t>
            </a:r>
          </a:p>
        </p:txBody>
      </p:sp>
    </p:spTree>
    <p:extLst>
      <p:ext uri="{BB962C8B-B14F-4D97-AF65-F5344CB8AC3E}">
        <p14:creationId xmlns:p14="http://schemas.microsoft.com/office/powerpoint/2010/main" val="20555046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5D0FE8-0CE7-44F1-BAFB-A128B136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UMamba 原始硬阈值结果图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88D324-8385-4085-8D75-41F3D29F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当前仓库中对应 visualization_train_subset.png 为 0 字节，先保留图片位置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A311B-6063-4C97-BCC0-2F53D97F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CDADF-7772-4641-AEA6-CD042BB5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7239000" cy="438150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D97706"/>
            </a:solidFill>
            <a:prstDash val="dash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FA5AB8-5C56-4513-886B-BBA3CA7A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24025"/>
            <a:ext cx="678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待补图：UMamba hard threshold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50924-8FAC-414F-BBFD-24EEA904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65151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75569"/>
                </a:solidFill>
              </a:defRPr>
            </a:pPr>
            <a:r>
              <a:rPr sz="1200">
                <a:solidFill>
                  <a:srgbClr val="475569"/>
                </a:solidFill>
              </a:rPr>
              <a:t>缺失文件：umamba_overfit100_l1_20260604_134304/visualization_train_subset.png 当前为 0 字节。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8572500" y="1428750"/>
          <a:ext xmlns:a="http://schemas.openxmlformats.org/drawingml/2006/main" cx="2714625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1285875"/>
              </a:tblGrid>
              <a:tr h="40821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数值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Val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6.13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Subset FT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6.10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Pearson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0.822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0.0255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Support Dice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0.012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Phase MAE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2.402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9E01AC-31FF-4E3A-9234-126A434E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97706"/>
                </a:solidFill>
              </a:defRPr>
            </a:pPr>
            <a:r>
              <a:rPr sz="1350" b="1">
                <a:solidFill>
                  <a:srgbClr val="D97706"/>
                </a:solidFill>
              </a:rPr>
              <a:t>结论：损失下降，但 support/phase 指标远弱于 AutoPhaseNN。</a:t>
            </a:r>
          </a:p>
        </p:txBody>
      </p:sp>
    </p:spTree>
    <p:extLst>
      <p:ext uri="{BB962C8B-B14F-4D97-AF65-F5344CB8AC3E}">
        <p14:creationId xmlns:p14="http://schemas.microsoft.com/office/powerpoint/2010/main" val="15619835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A709CD-0D89-4209-AB0D-F47ACAD5D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UMamba 可用完整图：实空间结构不理想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B0C951-D482-4B17-9E10-A4594536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文件：umamba_training_pipeline/output/visualization.png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C2219-4D8B-4826-A39B-DD3F60CCA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887bd78f774ecb"/>
          <a:stretch xmlns:a="http://schemas.openxmlformats.org/drawingml/2006/main"/>
        </p:blipFill>
        <p:spPr>
          <a:xfrm xmlns:a="http://schemas.openxmlformats.org/drawingml/2006/main">
            <a:off x="1995055" y="1219200"/>
            <a:ext cx="4849091" cy="5334000"/>
          </a:xfrm>
          <a:prstGeom xmlns:a="http://schemas.openxmlformats.org/drawingml/2006/main" prst="roundRect">
            <a:avLst>
              <a:gd name="adj" fmla="val 1429"/>
            </a:avLst>
          </a:prstGeom>
        </p:spPr>
      </p:pic>
      <p:graphicFrame>
        <p:nvGraphicFramePr>
          <p:cNvPr id="11" name=""/>
          <p:cNvGraphicFramePr/>
          <p:nvPr/>
        </p:nvGraphicFramePr>
        <p:xfrm>
          <a:off xmlns:a="http://schemas.openxmlformats.org/drawingml/2006/main" x="8572500" y="1428750"/>
          <a:ext xmlns:a="http://schemas.openxmlformats.org/drawingml/2006/main" cx="2714625" cy="2857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428750"/>
                <a:gridCol w="1285875"/>
              </a:tblGrid>
              <a:tr h="40821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soft/only-diff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FT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4.63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Rel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0.394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Pearson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0.980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L1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0.0484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Support Dice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0.205</a:t>
                      </a:r>
                    </a:p>
                  </a:txBody>
                  <a:tcPr marL="91440" marR="91440" marT="45720" marB="45720"/>
                </a:tc>
              </a:tr>
              <a:tr h="40821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Phase MAE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1.037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340B80-56AD-48FB-8170-9CF6A5E7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48200"/>
            <a:ext cx="27146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91C1C"/>
                </a:solidFill>
              </a:defRPr>
            </a:pPr>
            <a:r>
              <a:rPr sz="1350" b="1">
                <a:solidFill>
                  <a:srgbClr val="B91C1C"/>
                </a:solidFill>
              </a:rPr>
              <a:t>虽然 FT 指标可以较好，但图中 amp/support 仍出现环状或错位结构。</a:t>
            </a:r>
          </a:p>
        </p:txBody>
      </p:sp>
    </p:spTree>
    <p:extLst>
      <p:ext uri="{BB962C8B-B14F-4D97-AF65-F5344CB8AC3E}">
        <p14:creationId xmlns:p14="http://schemas.microsoft.com/office/powerpoint/2010/main" val="15437846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6004D8-2876-40FA-AB7B-257112EC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主要指标对比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1C779-E847-4BD1-8C0F-C9C9362C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重点看 FT 指标和实空间指标是否一致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323E3-8B65-4C71-AF76-C3FE6A03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1047750" y="1428750"/>
          <a:ext xmlns:a="http://schemas.openxmlformats.org/drawingml/2006/main" cx="9525000" cy="3429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000250"/>
                <a:gridCol w="2476500"/>
                <a:gridCol w="2476500"/>
                <a:gridCol w="2571750"/>
              </a:tblGrid>
              <a:tr h="48985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AutoPhaseNN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UMamba hard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UMamba soft/only-diff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FT L1 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5.09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6.10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4.63</a:t>
                      </a:r>
                    </a:p>
                  </a:txBody>
                  <a:tcPr marL="91440" marR="91440" marT="45720" marB="45720"/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Rel L1 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0.429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0.523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0.394</a:t>
                      </a:r>
                    </a:p>
                  </a:txBody>
                  <a:tcPr marL="91440" marR="91440" marT="45720" marB="45720"/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Pearson ↑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0.923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0.822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0.980</a:t>
                      </a:r>
                    </a:p>
                  </a:txBody>
                  <a:tcPr marL="91440" marR="91440" marT="45720" marB="45720"/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Amp L1 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0.0199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0.0255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0.0484</a:t>
                      </a:r>
                    </a:p>
                  </a:txBody>
                  <a:tcPr marL="91440" marR="91440" marT="45720" marB="45720"/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Support Dice ↑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0.330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0.012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0.205</a:t>
                      </a:r>
                    </a:p>
                  </a:txBody>
                  <a:tcPr marL="91440" marR="91440" marT="45720" marB="45720"/>
                </a:tc>
              </a:tr>
              <a:tr h="489857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Phase MAE ↓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0.873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2.402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1.037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EBF84-84A3-4BBE-B4A3-65DFD495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334000"/>
            <a:ext cx="904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简短结论：AutoPhaseNN 的图像恢复更符合实空间物理结构；UMamba 即使 FT/Pearson 指标较好，也可能恢复出不正确的 amp、phase、support。</a:t>
            </a:r>
          </a:p>
        </p:txBody>
      </p:sp>
    </p:spTree>
    <p:extLst>
      <p:ext uri="{BB962C8B-B14F-4D97-AF65-F5344CB8AC3E}">
        <p14:creationId xmlns:p14="http://schemas.microsoft.com/office/powerpoint/2010/main" val="5770842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31D921-19A4-47D6-9A1A-AC0046E0D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还需要补的图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F8860-A4E8-4DAB-AA02-530D4E0A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42950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475569"/>
                </a:solidFill>
              </a:defRPr>
            </a:pPr>
            <a:r>
              <a:rPr sz="975">
                <a:solidFill>
                  <a:srgbClr val="475569"/>
                </a:solidFill>
              </a:rPr>
              <a:t>后续只要把图文件补到对应位置，就可以替换占位页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13009-4C19-4ABA-B9F5-BC237A4F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668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  <a:prstDash val="solid"/>
          </a:ln>
        </p:spPr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1238250" y="1714500"/>
          <a:ext xmlns:a="http://schemas.openxmlformats.org/drawingml/2006/main" cx="9525000" cy="2095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2571750"/>
                <a:gridCol w="3810000"/>
              </a:tblGrid>
              <a:tr h="6985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缺图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当前状态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建议输出文件</a:t>
                      </a:r>
                    </a:p>
                  </a:txBody>
                  <a:tcPr marL="91440" marR="91440" marT="45720" marB="45720">
                    <a:solidFill>
                      <a:srgbClr val="0F172A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UMamba hard threshold 完整可视化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现有文件 0 字节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umamba_overfit100_l1_.../visualization_train_subset.png</a:t>
                      </a:r>
                    </a:p>
                  </a:txBody>
                  <a:tcPr marL="91440" marR="91440" marT="45720" marB="45720"/>
                </a:tc>
              </a:tr>
              <a:tr h="6985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UMamba soft threshold 独立完整可视化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仓库中未看到单独成品图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0F172A"/>
                          </a:solidFill>
                        </a:rPr>
                        <a:t>umamba_soft_threshold_.../visualization.png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DEE3F-BA19-43BB-8D43-69D7A0A2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我已经保留了图片位置；下一次补图后只需要替换对应 slide 的图片，不需要重写汇报结构。</a:t>
            </a:r>
          </a:p>
        </p:txBody>
      </p:sp>
    </p:spTree>
    <p:extLst>
      <p:ext uri="{BB962C8B-B14F-4D97-AF65-F5344CB8AC3E}">
        <p14:creationId xmlns:p14="http://schemas.microsoft.com/office/powerpoint/2010/main" val="13404957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2026-06-15T09:49:55.8890000Z</dcterms:created>
  <dcterms:modified xsi:type="dcterms:W3CDTF">2026-06-15T09:49:55.8890000Z</dcterms:modified>
</coreProperties>
</file>